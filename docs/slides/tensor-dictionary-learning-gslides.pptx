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1534"/>
                </a:solidFill>
                <a:latin typeface="Arial"/>
              </a:defRPr>
            </a:pPr>
            <a:r>
              <a:rPr sz="1200" b="0" i="0" u="none" strike="noStrike">
                <a:solidFill>
                  <a:srgbClr val="101534"/>
                </a:solidFill>
                <a:latin typeface="Arial"/>
              </a:rPr>
              <a:t>Test PSNR at the ≈5,000-parameter slice (HSI cube, 6×6×16)</a:t>
            </a:r>
          </a:p>
        </c:rich>
      </c:tx>
      <c:layout/>
      <c:overlay val="0"/>
    </c:title>
    <c:autoTitleDeleted val="0"/>
    <c:plotArea>
      <c:layout/>
      <c:barChart>
        <c:barDir val="col"/>
        <c:grouping val="clustered"/>
        <c:varyColors val="0"/>
        <c:ser>
          <c:idx val="0"/>
          <c:order val="0"/>
          <c:tx>
            <c:strRef>
              <c:f>Sheet1!$B$1</c:f>
              <c:strCache>
                <c:ptCount val="1"/>
                <c:pt idx="0">
                  <c:v>6 dB (heavy noise)</c:v>
                </c:pt>
              </c:strCache>
            </c:strRef>
          </c:tx>
          <c:spPr>
            <a:solidFill>
              <a:srgbClr val="2B3A8F"/>
            </a:solidFill>
            <a:effectLst/>
          </c:spPr>
          <c:invertIfNegative val="0"/>
          <c:dLbls>
            <c:numFmt formatCode="0.00" sourceLinked="0"/>
            <c:txPr>
              <a:bodyPr/>
              <a:lstStyle/>
              <a:p>
                <a:pPr>
                  <a:defRPr b="0" i="0" strike="noStrike" sz="900" u="none">
                    <a:solidFill>
                      <a:srgbClr val="5A6178"/>
                    </a:solidFill>
                    <a:latin typeface="Arial"/>
                  </a:defRPr>
                </a:pPr>
              </a:p>
            </c:txPr>
            <c:showLegendKey val="0"/>
            <c:showVal val="1"/>
            <c:showCatName val="0"/>
            <c:showSerName val="0"/>
            <c:showPercent val="0"/>
            <c:showBubbleSize val="0"/>
            <c:showLeaderLines val="0"/>
          </c:dLbls>
          <c:cat>
            <c:multiLvlStrRef>
              <c:f>Sheet1!$A$2:$A$7</c:f>
              <c:multiLvlStrCache>
                <c:ptCount val="6"/>
                <c:lvl>
                  <c:pt idx="0">
                    <c:v>Vectorized</c:v>
                  </c:pt>
                  <c:pt idx="1">
                    <c:v>CP</c:v>
                  </c:pt>
                  <c:pt idx="2">
                    <c:v>TT</c:v>
                  </c:pt>
                  <c:pt idx="3">
                    <c:v>TR</c:v>
                  </c:pt>
                  <c:pt idx="4">
                    <c:v>BTD</c:v>
                  </c:pt>
                  <c:pt idx="5">
                    <c:v>Tucker*</c:v>
                  </c:pt>
                </c:lvl>
              </c:multiLvlStrCache>
            </c:multiLvlStrRef>
          </c:cat>
          <c:val>
            <c:numRef>
              <c:f>Sheet1!$B$2:$B$7</c:f>
              <c:numCache>
                <c:formatCode>General</c:formatCode>
                <c:ptCount val="6"/>
                <c:pt idx="0">
                  <c:v>32.27</c:v>
                </c:pt>
                <c:pt idx="1">
                  <c:v>29.91</c:v>
                </c:pt>
                <c:pt idx="2">
                  <c:v>29.24</c:v>
                </c:pt>
                <c:pt idx="3">
                  <c:v>29.16</c:v>
                </c:pt>
                <c:pt idx="4">
                  <c:v>28.49</c:v>
                </c:pt>
                <c:pt idx="5">
                  <c:v>26.9</c:v>
                </c:pt>
              </c:numCache>
            </c:numRef>
          </c:val>
        </c:ser>
        <c:ser>
          <c:idx val="1"/>
          <c:order val="1"/>
          <c:tx>
            <c:strRef>
              <c:f>Sheet1!$C$1</c:f>
              <c:strCache>
                <c:ptCount val="1"/>
                <c:pt idx="0">
                  <c:v>18 dB (light noise)</c:v>
                </c:pt>
              </c:strCache>
            </c:strRef>
          </c:tx>
          <c:spPr>
            <a:solidFill>
              <a:srgbClr val="E8A13A"/>
            </a:solidFill>
            <a:effectLst/>
          </c:spPr>
          <c:invertIfNegative val="0"/>
          <c:dLbls>
            <c:numFmt formatCode="0.00" sourceLinked="0"/>
            <c:txPr>
              <a:bodyPr/>
              <a:lstStyle/>
              <a:p>
                <a:pPr>
                  <a:defRPr b="0" i="0" strike="noStrike" sz="900" u="none">
                    <a:solidFill>
                      <a:srgbClr val="5A6178"/>
                    </a:solidFill>
                    <a:latin typeface="Arial"/>
                  </a:defRPr>
                </a:pPr>
              </a:p>
            </c:txPr>
            <c:showLegendKey val="0"/>
            <c:showVal val="1"/>
            <c:showCatName val="0"/>
            <c:showSerName val="0"/>
            <c:showPercent val="0"/>
            <c:showBubbleSize val="0"/>
            <c:showLeaderLines val="0"/>
          </c:dLbls>
          <c:cat>
            <c:multiLvlStrRef>
              <c:f>Sheet1!$A$2:$A$7</c:f>
              <c:multiLvlStrCache>
                <c:ptCount val="6"/>
                <c:lvl>
                  <c:pt idx="0">
                    <c:v>Vectorized</c:v>
                  </c:pt>
                  <c:pt idx="1">
                    <c:v>CP</c:v>
                  </c:pt>
                  <c:pt idx="2">
                    <c:v>TT</c:v>
                  </c:pt>
                  <c:pt idx="3">
                    <c:v>TR</c:v>
                  </c:pt>
                  <c:pt idx="4">
                    <c:v>BTD</c:v>
                  </c:pt>
                  <c:pt idx="5">
                    <c:v>Tucker*</c:v>
                  </c:pt>
                </c:lvl>
              </c:multiLvlStrCache>
            </c:multiLvlStrRef>
          </c:cat>
          <c:val>
            <c:numRef>
              <c:f>Sheet1!$C$2:$C$7</c:f>
              <c:numCache>
                <c:formatCode>General</c:formatCode>
                <c:ptCount val="6"/>
                <c:pt idx="0">
                  <c:v>41.8</c:v>
                </c:pt>
                <c:pt idx="1">
                  <c:v>41.08</c:v>
                </c:pt>
                <c:pt idx="2">
                  <c:v>40.58</c:v>
                </c:pt>
                <c:pt idx="3">
                  <c:v>40.54</c:v>
                </c:pt>
                <c:pt idx="4">
                  <c:v>40.21</c:v>
                </c:pt>
                <c:pt idx="5">
                  <c:v>38.82</c:v>
                </c:pt>
              </c:numCache>
            </c:numRef>
          </c:val>
        </c:ser>
        <c:dLbls>
          <c:numFmt formatCode="0.00" sourceLinked="0"/>
          <c:txPr>
            <a:bodyPr/>
            <a:lstStyle/>
            <a:p>
              <a:pPr>
                <a:defRPr b="0" i="0" strike="noStrike" sz="900" u="none">
                  <a:solidFill>
                    <a:srgbClr val="5A617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178"/>
                </a:solidFill>
                <a:latin typeface="Arial"/>
              </a:defRPr>
            </a:pPr>
            <a:endParaRPr lang="en-US"/>
          </a:p>
        </c:txPr>
        <c:crossAx val="2094734552"/>
        <c:crosses val="autoZero"/>
        <c:auto val="1"/>
        <c:lblAlgn val="ctr"/>
        <c:noMultiLvlLbl val="1"/>
      </c:catAx>
      <c:valAx>
        <c:axId val="2094734552"/>
        <c:scaling>
          <c:orientation val="minMax"/>
          <c:max val="46"/>
          <c:min val="24"/>
        </c:scaling>
        <c:delete val="0"/>
        <c:axPos val="l"/>
        <c:majorGridlines>
          <c:spPr>
            <a:ln w="9525" cap="flat">
              <a:solidFill>
                <a:srgbClr val="E8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17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A6178"/>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covers a controlled comparison of five tensor-structured dictionaries plus an unstructured baseline, all sharing one sparse-coding harness, and a three-layer ranking system for deciding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parameter blow-up is the headline problem: it is multiplicative in tensor order, and the capacity it buys is a liability on noisy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from the paper: CP, Tensor-Train, Tensor-Ring and BTD each impose a different low-parameter format on the dictionary tensor. At three modes the saving is modest; it compounds sharply as modes are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is deliberately extensible: a new decomposition costs one projector and one parameter-count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methodological claim of the paper: only the atom structure differs between 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Orthogonality is what distinguishes OMP from plain matching pursuit. The restricted error matrix is the piece most often misread — the +dx term cancels atom k out of the reconstruction 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 organizes the whole paper: four methods are a projection; Tucker needs a different update because its constraint is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Tucker stores three shared mode dictionaries, so parameters grow roughly linearly with mode dimension while the atom count grows multiplicatively.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is multi-objective — accuracy, parameter thrift, training speed, robustness. The layers are ordered so the objective claim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dataset gets a different depth of analysis on purpose — rank sweep, full tiering, and matched budget respectively.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structured method trades accuracy for compression here. The interesting part is why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of the 24 ground-truth atoms, spanning separable, low-TT-rank and dense components, with their clean and 12 dB noisy patches. Only the dense ones lack compressible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foreshadows the Tucker diagnosis: wide error bars were a symptom of a bad optimizer, not of the Tucker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regime flip is the paper's central empirical result: structure helps exactly when the data is genuinely low-rank and the measurements are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BTD is useful conceptually: it shows CP and Tucker are endpoints of one family rather than unrelated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honesty slide. The first Tucker number in the tables was not a verdict on Tucker; it was a verdict on an out-of-harness optimizer.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contrast between the two panels: on synthetic data Layer 1 prunes nothing, so the opinionated layers do all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HSI benchmark is split into train, validation and test: each configuration trains on train, the rank is chosen on validation, and the selected model is evaluated once 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remembers one slide,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here is what makes the ranking claims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extensibility: the framework is designed so new decompositions plug in and the ranking can be re-derived on any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534"/>
        </a:solidFill>
      </p:bgPr>
    </p:bg>
    <p:spTree>
      <p:nvGrpSpPr>
        <p:cNvPr id="1" name=""/>
        <p:cNvGrpSpPr/>
        <p:nvPr/>
      </p:nvGrpSpPr>
      <p:grpSpPr>
        <a:xfrm>
          <a:off x="0" y="0"/>
          <a:ext cx="0" cy="0"/>
          <a:chOff x="0" y="0"/>
          <a:chExt cx="0" cy="0"/>
        </a:xfrm>
      </p:grpSpPr>
      <p:sp>
        <p:nvSpPr>
          <p:cNvPr id="2" name="Shape 0"/>
          <p:cNvSpPr/>
          <p:nvPr/>
        </p:nvSpPr>
        <p:spPr>
          <a:xfrm>
            <a:off x="9646920" y="1417320"/>
            <a:ext cx="1828800" cy="1133856"/>
          </a:xfrm>
          <a:prstGeom prst="roundRect">
            <a:avLst>
              <a:gd name="adj" fmla="val 4839"/>
            </a:avLst>
          </a:prstGeom>
          <a:solidFill>
            <a:srgbClr val="FFFFFF">
              <a:alpha val="12000"/>
            </a:srgbClr>
          </a:solidFill>
          <a:ln w="12700">
            <a:solidFill>
              <a:srgbClr val="FFFFFF">
                <a:alpha val="40000"/>
              </a:srgbClr>
            </a:solidFill>
            <a:prstDash val="solid"/>
          </a:ln>
        </p:spPr>
      </p:sp>
      <p:sp>
        <p:nvSpPr>
          <p:cNvPr id="3" name="Shape 1"/>
          <p:cNvSpPr/>
          <p:nvPr/>
        </p:nvSpPr>
        <p:spPr>
          <a:xfrm>
            <a:off x="10195560" y="2331720"/>
            <a:ext cx="1463040" cy="907085"/>
          </a:xfrm>
          <a:prstGeom prst="roundRect">
            <a:avLst>
              <a:gd name="adj" fmla="val 6048"/>
            </a:avLst>
          </a:prstGeom>
          <a:solidFill>
            <a:srgbClr val="E8A13A">
              <a:alpha val="80000"/>
            </a:srgbClr>
          </a:solidFill>
          <a:ln w="12700">
            <a:solidFill>
              <a:srgbClr val="E8A13A">
                <a:alpha val="40000"/>
              </a:srgbClr>
            </a:solidFill>
            <a:prstDash val="solid"/>
          </a:ln>
        </p:spPr>
      </p:sp>
      <p:sp>
        <p:nvSpPr>
          <p:cNvPr id="4" name="Shape 2"/>
          <p:cNvSpPr/>
          <p:nvPr/>
        </p:nvSpPr>
        <p:spPr>
          <a:xfrm>
            <a:off x="9921240" y="3703320"/>
            <a:ext cx="2194560" cy="1360627"/>
          </a:xfrm>
          <a:prstGeom prst="roundRect">
            <a:avLst>
              <a:gd name="adj" fmla="val 4032"/>
            </a:avLst>
          </a:prstGeom>
          <a:solidFill>
            <a:srgbClr val="FFFFFF">
              <a:alpha val="12000"/>
            </a:srgbClr>
          </a:solidFill>
          <a:ln w="12700">
            <a:solidFill>
              <a:srgbClr val="FFFFFF">
                <a:alpha val="40000"/>
              </a:srgbClr>
            </a:solidFill>
            <a:prstDash val="solid"/>
          </a:ln>
        </p:spPr>
      </p:sp>
      <p:sp>
        <p:nvSpPr>
          <p:cNvPr id="5" name="Text 3"/>
          <p:cNvSpPr/>
          <p:nvPr/>
        </p:nvSpPr>
        <p:spPr>
          <a:xfrm>
            <a:off x="731520" y="1371600"/>
            <a:ext cx="8412480" cy="274320"/>
          </a:xfrm>
          <a:prstGeom prst="rect">
            <a:avLst/>
          </a:prstGeom>
          <a:noFill/>
          <a:ln/>
        </p:spPr>
        <p:txBody>
          <a:bodyPr wrap="square" lIns="0" tIns="0" rIns="0" bIns="0" rtlCol="0" anchor="ctr"/>
          <a:lstStyle/>
          <a:p>
            <a:pPr indent="0" marL="0">
              <a:buNone/>
            </a:pPr>
            <a:r>
              <a:rPr lang="en-US" sz="1150" b="1" spc="200" kern="0" dirty="0">
                <a:solidFill>
                  <a:srgbClr val="E8A13A"/>
                </a:solidFill>
                <a:latin typeface="Arial" pitchFamily="34" charset="0"/>
                <a:ea typeface="Arial" pitchFamily="34" charset="-122"/>
                <a:cs typeface="Arial" pitchFamily="34" charset="-120"/>
              </a:rPr>
              <a:t>TENSOR DECOMPOSITIONS · SPARSE CODING · BENCHMARK</a:t>
            </a:r>
            <a:endParaRPr lang="en-US" sz="1150" dirty="0"/>
          </a:p>
        </p:txBody>
      </p:sp>
      <p:sp>
        <p:nvSpPr>
          <p:cNvPr id="6" name="Text 4"/>
          <p:cNvSpPr/>
          <p:nvPr/>
        </p:nvSpPr>
        <p:spPr>
          <a:xfrm>
            <a:off x="731520" y="1783080"/>
            <a:ext cx="8412480" cy="1828800"/>
          </a:xfrm>
          <a:prstGeom prst="rect">
            <a:avLst/>
          </a:prstGeom>
          <a:noFill/>
          <a:ln/>
        </p:spPr>
        <p:txBody>
          <a:bodyPr wrap="square" lIns="0" tIns="0" rIns="0" bIns="0" rtlCol="0" anchor="ctr"/>
          <a:lstStyle/>
          <a:p>
            <a:pPr indent="0" marL="0">
              <a:lnSpc>
                <a:spcPts val="4000"/>
              </a:lnSpc>
              <a:buNone/>
            </a:pPr>
            <a:r>
              <a:rPr lang="en-US" sz="3300" b="1" dirty="0">
                <a:solidFill>
                  <a:srgbClr val="FFFFFF"/>
                </a:solidFill>
                <a:latin typeface="Georgia" pitchFamily="34" charset="0"/>
                <a:ea typeface="Georgia" pitchFamily="34" charset="-122"/>
                <a:cs typeface="Georgia" pitchFamily="34" charset="-120"/>
              </a:rPr>
              <a:t>A Unified Projection Framework for Tensor-Structured Dictionary Learning</a:t>
            </a:r>
            <a:endParaRPr lang="en-US" sz="3300" dirty="0"/>
          </a:p>
        </p:txBody>
      </p:sp>
      <p:sp>
        <p:nvSpPr>
          <p:cNvPr id="7" name="Text 5"/>
          <p:cNvSpPr/>
          <p:nvPr/>
        </p:nvSpPr>
        <p:spPr>
          <a:xfrm>
            <a:off x="731520" y="3703320"/>
            <a:ext cx="8138160" cy="731520"/>
          </a:xfrm>
          <a:prstGeom prst="rect">
            <a:avLst/>
          </a:prstGeom>
          <a:noFill/>
          <a:ln/>
        </p:spPr>
        <p:txBody>
          <a:bodyPr wrap="square" lIns="0" tIns="0" rIns="0" bIns="0" rtlCol="0" anchor="ctr"/>
          <a:lstStyle/>
          <a:p>
            <a:pPr indent="0" marL="0">
              <a:lnSpc>
                <a:spcPts val="2200"/>
              </a:lnSpc>
              <a:buNone/>
            </a:pPr>
            <a:r>
              <a:rPr lang="en-US" sz="1500" i="1" dirty="0">
                <a:solidFill>
                  <a:srgbClr val="C7CBE0"/>
                </a:solidFill>
                <a:latin typeface="Arial" pitchFamily="34" charset="0"/>
                <a:ea typeface="Arial" pitchFamily="34" charset="-122"/>
                <a:cs typeface="Arial" pitchFamily="34" charset="-120"/>
              </a:rPr>
              <a:t>Six dictionaries, one harness — and an efficiency ranking system that says which one to use when</a:t>
            </a:r>
            <a:endParaRPr lang="en-US" sz="1500" dirty="0"/>
          </a:p>
        </p:txBody>
      </p:sp>
      <p:sp>
        <p:nvSpPr>
          <p:cNvPr id="8" name="Shape 6"/>
          <p:cNvSpPr/>
          <p:nvPr/>
        </p:nvSpPr>
        <p:spPr>
          <a:xfrm>
            <a:off x="731520" y="4800600"/>
            <a:ext cx="822960" cy="27432"/>
          </a:xfrm>
          <a:prstGeom prst="rect">
            <a:avLst/>
          </a:prstGeom>
          <a:solidFill>
            <a:srgbClr val="E8A13A"/>
          </a:solidFill>
          <a:ln/>
        </p:spPr>
      </p:sp>
      <p:sp>
        <p:nvSpPr>
          <p:cNvPr id="9" name="Text 7"/>
          <p:cNvSpPr/>
          <p:nvPr/>
        </p:nvSpPr>
        <p:spPr>
          <a:xfrm>
            <a:off x="731520" y="4983480"/>
            <a:ext cx="54864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Sahaj Chhetri</a:t>
            </a:r>
            <a:endParaRPr lang="en-US" sz="1500" dirty="0"/>
          </a:p>
        </p:txBody>
      </p:sp>
      <p:sp>
        <p:nvSpPr>
          <p:cNvPr id="10" name="Text 8"/>
          <p:cNvSpPr/>
          <p:nvPr/>
        </p:nvSpPr>
        <p:spPr>
          <a:xfrm>
            <a:off x="731520" y="5303520"/>
            <a:ext cx="5486400" cy="274320"/>
          </a:xfrm>
          <a:prstGeom prst="rect">
            <a:avLst/>
          </a:prstGeom>
          <a:noFill/>
          <a:ln/>
        </p:spPr>
        <p:txBody>
          <a:bodyPr wrap="square" lIns="0" tIns="0" rIns="0" bIns="0" rtlCol="0" anchor="ctr"/>
          <a:lstStyle/>
          <a:p>
            <a:pPr indent="0" marL="0">
              <a:buNone/>
            </a:pPr>
            <a:r>
              <a:rPr lang="en-US" sz="1250" dirty="0">
                <a:solidFill>
                  <a:srgbClr val="9AA0BC"/>
                </a:solidFill>
                <a:latin typeface="Arial" pitchFamily="34" charset="0"/>
                <a:ea typeface="Arial" pitchFamily="34" charset="-122"/>
                <a:cs typeface="Arial" pitchFamily="34" charset="-120"/>
              </a:rPr>
              <a:t>August 17,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MOTIVATION</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Flattening a patch discards its structure</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2</a:t>
            </a:r>
            <a:endParaRPr lang="en-US" sz="1200" dirty="0"/>
          </a:p>
        </p:txBody>
      </p:sp>
      <p:sp>
        <p:nvSpPr>
          <p:cNvPr id="6" name="Text 4"/>
          <p:cNvSpPr/>
          <p:nvPr/>
        </p:nvSpPr>
        <p:spPr>
          <a:xfrm>
            <a:off x="548640" y="1572768"/>
            <a:ext cx="6400800" cy="4023360"/>
          </a:xfrm>
          <a:prstGeom prst="rect">
            <a:avLst/>
          </a:prstGeom>
          <a:noFill/>
          <a:ln/>
        </p:spPr>
        <p:txBody>
          <a:bodyPr wrap="square" lIns="0" tIns="0" rIns="0" bIns="0" rtlCol="0" anchor="t"/>
          <a:lstStyle/>
          <a:p>
            <a:pPr indent="0" marL="0">
              <a:lnSpc>
                <a:spcPts val="2100"/>
              </a:lnSpc>
              <a:spcAft>
                <a:spcPts val="1200"/>
              </a:spcAft>
              <a:buNone/>
            </a:pPr>
            <a:r>
              <a:rPr lang="en-US" sz="1450" dirty="0">
                <a:solidFill>
                  <a:srgbClr val="5A6178"/>
                </a:solidFill>
                <a:latin typeface="Arial" pitchFamily="34" charset="0"/>
                <a:ea typeface="Arial" pitchFamily="34" charset="-122"/>
                <a:cs typeface="Arial" pitchFamily="34" charset="-120"/>
              </a:rPr>
              <a:t>Classical dictionary learning models a signal as y ≈ Dx, with unit-norm atoms and a sparse code. For a multiway patch the standard recipe flattens it to a vector of length n = ∏ᵢ nᵢ.</a:t>
            </a:r>
            <a:endParaRPr lang="en-US" sz="1450" dirty="0"/>
          </a:p>
          <a:p>
            <a:pPr marL="177800" indent="-177800">
              <a:spcAft>
                <a:spcPts val="800"/>
              </a:spcAft>
              <a:buSzPct val="100000"/>
              <a:buChar char="•"/>
            </a:pPr>
            <a:r>
              <a:rPr lang="en-US" sz="1450" dirty="0">
                <a:solidFill>
                  <a:srgbClr val="5A6178"/>
                </a:solidFill>
                <a:latin typeface="Arial" pitchFamily="34" charset="0"/>
                <a:ea typeface="Arial" pitchFamily="34" charset="-122"/>
                <a:cs typeface="Arial" pitchFamily="34" charset="-120"/>
              </a:rPr>
              <a:t>Spatial neighbourhoods and spectral smoothness — exactly the redundancy that makes the data cheap to encode — are discarded by the flattening.</a:t>
            </a:r>
            <a:endParaRPr lang="en-US" sz="1450" dirty="0"/>
          </a:p>
          <a:p>
            <a:pPr marL="177800" indent="-177800">
              <a:spcAft>
                <a:spcPts val="800"/>
              </a:spcAft>
              <a:buSzPct val="100000"/>
              <a:buChar char="•"/>
            </a:pPr>
            <a:r>
              <a:rPr lang="en-US" sz="1450" dirty="0">
                <a:solidFill>
                  <a:srgbClr val="5A6178"/>
                </a:solidFill>
                <a:latin typeface="Arial" pitchFamily="34" charset="0"/>
                <a:ea typeface="Arial" pitchFamily="34" charset="-122"/>
                <a:cs typeface="Arial" pitchFamily="34" charset="-120"/>
              </a:rPr>
              <a:t>The dictionary then carries n·K free numbers, which grows multiplicatively with tensor order: each extra mode multiplies the parameter count.</a:t>
            </a:r>
            <a:endParaRPr lang="en-US" sz="1450" dirty="0"/>
          </a:p>
          <a:p>
            <a:pPr marL="177800" indent="-177800">
              <a:spcAft>
                <a:spcPts val="800"/>
              </a:spcAft>
              <a:buSzPct val="100000"/>
              <a:buChar char="•"/>
            </a:pPr>
            <a:r>
              <a:rPr lang="en-US" sz="1450" dirty="0">
                <a:solidFill>
                  <a:srgbClr val="5A6178"/>
                </a:solidFill>
                <a:latin typeface="Arial" pitchFamily="34" charset="0"/>
                <a:ea typeface="Arial" pitchFamily="34" charset="-122"/>
                <a:cs typeface="Arial" pitchFamily="34" charset="-120"/>
              </a:rPr>
              <a:t>More free parameters than the data's true complexity needs invites over-fitting, and on noisy data the extra capacity is spent modelling noise.</a:t>
            </a:r>
            <a:endParaRPr lang="en-US" sz="1450" dirty="0"/>
          </a:p>
        </p:txBody>
      </p:sp>
      <p:sp>
        <p:nvSpPr>
          <p:cNvPr id="7" name="Shape 5"/>
          <p:cNvSpPr/>
          <p:nvPr/>
        </p:nvSpPr>
        <p:spPr>
          <a:xfrm>
            <a:off x="7406640" y="1572768"/>
            <a:ext cx="4233672" cy="1170432"/>
          </a:xfrm>
          <a:prstGeom prst="roundRect">
            <a:avLst>
              <a:gd name="adj" fmla="val 3906"/>
            </a:avLst>
          </a:prstGeom>
          <a:solidFill>
            <a:srgbClr val="F3F4F9"/>
          </a:solidFill>
          <a:ln w="9525">
            <a:solidFill>
              <a:srgbClr val="DCDFEC"/>
            </a:solidFill>
            <a:prstDash val="solid"/>
          </a:ln>
        </p:spPr>
      </p:sp>
      <p:sp>
        <p:nvSpPr>
          <p:cNvPr id="8" name="Text 6"/>
          <p:cNvSpPr/>
          <p:nvPr/>
        </p:nvSpPr>
        <p:spPr>
          <a:xfrm>
            <a:off x="7635240" y="1682496"/>
            <a:ext cx="1691640" cy="548640"/>
          </a:xfrm>
          <a:prstGeom prst="rect">
            <a:avLst/>
          </a:prstGeom>
          <a:noFill/>
          <a:ln/>
        </p:spPr>
        <p:txBody>
          <a:bodyPr wrap="square" lIns="0" tIns="0" rIns="0" bIns="0" rtlCol="0" anchor="ctr"/>
          <a:lstStyle/>
          <a:p>
            <a:pPr indent="0" marL="0">
              <a:buNone/>
            </a:pPr>
            <a:r>
              <a:rPr lang="en-US" sz="3000" b="1" dirty="0">
                <a:solidFill>
                  <a:srgbClr val="B34A3F"/>
                </a:solidFill>
                <a:latin typeface="Georgia" pitchFamily="34" charset="0"/>
                <a:ea typeface="Georgia" pitchFamily="34" charset="-122"/>
                <a:cs typeface="Georgia" pitchFamily="34" charset="-120"/>
              </a:rPr>
              <a:t>25,920</a:t>
            </a:r>
            <a:endParaRPr lang="en-US" sz="3000" dirty="0"/>
          </a:p>
        </p:txBody>
      </p:sp>
      <p:sp>
        <p:nvSpPr>
          <p:cNvPr id="9" name="Text 7"/>
          <p:cNvSpPr/>
          <p:nvPr/>
        </p:nvSpPr>
        <p:spPr>
          <a:xfrm>
            <a:off x="9326880" y="1700784"/>
            <a:ext cx="2194560" cy="914400"/>
          </a:xfrm>
          <a:prstGeom prst="rect">
            <a:avLst/>
          </a:prstGeom>
          <a:noFill/>
          <a:ln/>
        </p:spPr>
        <p:txBody>
          <a:bodyPr wrap="square" lIns="0" tIns="0" rIns="0" bIns="0" rtlCol="0" anchor="ctr"/>
          <a:lstStyle/>
          <a:p>
            <a:pPr indent="0" marL="0">
              <a:lnSpc>
                <a:spcPts val="1400"/>
              </a:lnSpc>
              <a:buNone/>
            </a:pPr>
            <a:r>
              <a:rPr lang="en-US" sz="1050" dirty="0">
                <a:solidFill>
                  <a:srgbClr val="5A6178"/>
                </a:solidFill>
                <a:latin typeface="Arial" pitchFamily="34" charset="0"/>
                <a:ea typeface="Arial" pitchFamily="34" charset="-122"/>
                <a:cs typeface="Arial" pitchFamily="34" charset="-120"/>
              </a:rPr>
              <a:t>free parameters — vectorized dictionary, 6×6×6 patches, K = 120 atoms</a:t>
            </a:r>
            <a:endParaRPr lang="en-US" sz="1050" dirty="0"/>
          </a:p>
        </p:txBody>
      </p:sp>
      <p:sp>
        <p:nvSpPr>
          <p:cNvPr id="10" name="Shape 8"/>
          <p:cNvSpPr/>
          <p:nvPr/>
        </p:nvSpPr>
        <p:spPr>
          <a:xfrm>
            <a:off x="7406640" y="2944368"/>
            <a:ext cx="4233672" cy="1170432"/>
          </a:xfrm>
          <a:prstGeom prst="roundRect">
            <a:avLst>
              <a:gd name="adj" fmla="val 3906"/>
            </a:avLst>
          </a:prstGeom>
          <a:solidFill>
            <a:srgbClr val="F3F4F9"/>
          </a:solidFill>
          <a:ln w="9525">
            <a:solidFill>
              <a:srgbClr val="DCDFEC"/>
            </a:solidFill>
            <a:prstDash val="solid"/>
          </a:ln>
        </p:spPr>
      </p:sp>
      <p:sp>
        <p:nvSpPr>
          <p:cNvPr id="11" name="Text 9"/>
          <p:cNvSpPr/>
          <p:nvPr/>
        </p:nvSpPr>
        <p:spPr>
          <a:xfrm>
            <a:off x="7635240" y="3054096"/>
            <a:ext cx="1691640" cy="548640"/>
          </a:xfrm>
          <a:prstGeom prst="rect">
            <a:avLst/>
          </a:prstGeom>
          <a:noFill/>
          <a:ln/>
        </p:spPr>
        <p:txBody>
          <a:bodyPr wrap="square" lIns="0" tIns="0" rIns="0" bIns="0" rtlCol="0" anchor="ctr"/>
          <a:lstStyle/>
          <a:p>
            <a:pPr indent="0" marL="0">
              <a:buNone/>
            </a:pPr>
            <a:r>
              <a:rPr lang="en-US" sz="3000" b="1" dirty="0">
                <a:solidFill>
                  <a:srgbClr val="2E9E8F"/>
                </a:solidFill>
                <a:latin typeface="Georgia" pitchFamily="34" charset="0"/>
                <a:ea typeface="Georgia" pitchFamily="34" charset="-122"/>
                <a:cs typeface="Georgia" pitchFamily="34" charset="-120"/>
              </a:rPr>
              <a:t>2,160</a:t>
            </a:r>
            <a:endParaRPr lang="en-US" sz="3000" dirty="0"/>
          </a:p>
        </p:txBody>
      </p:sp>
      <p:sp>
        <p:nvSpPr>
          <p:cNvPr id="12" name="Text 10"/>
          <p:cNvSpPr/>
          <p:nvPr/>
        </p:nvSpPr>
        <p:spPr>
          <a:xfrm>
            <a:off x="9326880" y="3072384"/>
            <a:ext cx="2194560" cy="914400"/>
          </a:xfrm>
          <a:prstGeom prst="rect">
            <a:avLst/>
          </a:prstGeom>
          <a:noFill/>
          <a:ln/>
        </p:spPr>
        <p:txBody>
          <a:bodyPr wrap="square" lIns="0" tIns="0" rIns="0" bIns="0" rtlCol="0" anchor="ctr"/>
          <a:lstStyle/>
          <a:p>
            <a:pPr indent="0" marL="0">
              <a:lnSpc>
                <a:spcPts val="1400"/>
              </a:lnSpc>
              <a:buNone/>
            </a:pPr>
            <a:r>
              <a:rPr lang="en-US" sz="1050" dirty="0">
                <a:solidFill>
                  <a:srgbClr val="5A6178"/>
                </a:solidFill>
                <a:latin typeface="Arial" pitchFamily="34" charset="0"/>
                <a:ea typeface="Arial" pitchFamily="34" charset="-122"/>
                <a:cs typeface="Arial" pitchFamily="34" charset="-120"/>
              </a:rPr>
              <a:t>the same 120 atoms under a CP-structured dictionary — 12× smaller</a:t>
            </a:r>
            <a:endParaRPr lang="en-US" sz="1050" dirty="0"/>
          </a:p>
        </p:txBody>
      </p:sp>
      <p:sp>
        <p:nvSpPr>
          <p:cNvPr id="13" name="Shape 11"/>
          <p:cNvSpPr/>
          <p:nvPr/>
        </p:nvSpPr>
        <p:spPr>
          <a:xfrm>
            <a:off x="7406640" y="4315968"/>
            <a:ext cx="4233672" cy="1170432"/>
          </a:xfrm>
          <a:prstGeom prst="roundRect">
            <a:avLst>
              <a:gd name="adj" fmla="val 3906"/>
            </a:avLst>
          </a:prstGeom>
          <a:solidFill>
            <a:srgbClr val="F3F4F9"/>
          </a:solidFill>
          <a:ln w="9525">
            <a:solidFill>
              <a:srgbClr val="DCDFEC"/>
            </a:solidFill>
            <a:prstDash val="solid"/>
          </a:ln>
        </p:spPr>
      </p:sp>
      <p:sp>
        <p:nvSpPr>
          <p:cNvPr id="14" name="Text 12"/>
          <p:cNvSpPr/>
          <p:nvPr/>
        </p:nvSpPr>
        <p:spPr>
          <a:xfrm>
            <a:off x="7635240" y="4425696"/>
            <a:ext cx="1691640" cy="548640"/>
          </a:xfrm>
          <a:prstGeom prst="rect">
            <a:avLst/>
          </a:prstGeom>
          <a:noFill/>
          <a:ln/>
        </p:spPr>
        <p:txBody>
          <a:bodyPr wrap="square" lIns="0" tIns="0" rIns="0" bIns="0" rtlCol="0" anchor="ctr"/>
          <a:lstStyle/>
          <a:p>
            <a:pPr indent="0" marL="0">
              <a:buNone/>
            </a:pPr>
            <a:r>
              <a:rPr lang="en-US" sz="3000" b="1" dirty="0">
                <a:solidFill>
                  <a:srgbClr val="2B3A8F"/>
                </a:solidFill>
                <a:latin typeface="Georgia" pitchFamily="34" charset="0"/>
                <a:ea typeface="Georgia" pitchFamily="34" charset="-122"/>
                <a:cs typeface="Georgia" pitchFamily="34" charset="-120"/>
              </a:rPr>
              <a:t>126</a:t>
            </a:r>
            <a:endParaRPr lang="en-US" sz="3000" dirty="0"/>
          </a:p>
        </p:txBody>
      </p:sp>
      <p:sp>
        <p:nvSpPr>
          <p:cNvPr id="15" name="Text 13"/>
          <p:cNvSpPr/>
          <p:nvPr/>
        </p:nvSpPr>
        <p:spPr>
          <a:xfrm>
            <a:off x="9326880" y="4443984"/>
            <a:ext cx="2194560" cy="914400"/>
          </a:xfrm>
          <a:prstGeom prst="rect">
            <a:avLst/>
          </a:prstGeom>
          <a:noFill/>
          <a:ln/>
        </p:spPr>
        <p:txBody>
          <a:bodyPr wrap="square" lIns="0" tIns="0" rIns="0" bIns="0" rtlCol="0" anchor="ctr"/>
          <a:lstStyle/>
          <a:p>
            <a:pPr indent="0" marL="0">
              <a:lnSpc>
                <a:spcPts val="1400"/>
              </a:lnSpc>
              <a:buNone/>
            </a:pPr>
            <a:r>
              <a:rPr lang="en-US" sz="1050" dirty="0">
                <a:solidFill>
                  <a:srgbClr val="5A6178"/>
                </a:solidFill>
                <a:latin typeface="Arial" pitchFamily="34" charset="0"/>
                <a:ea typeface="Arial" pitchFamily="34" charset="-122"/>
                <a:cs typeface="Arial" pitchFamily="34" charset="-120"/>
              </a:rPr>
              <a:t>Tucker mode factors covering 343 implicit atoms — 206× compression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THE FIX</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Constrain the atom, not the data</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3</a:t>
            </a:r>
            <a:endParaRPr lang="en-US" sz="1200" dirty="0"/>
          </a:p>
        </p:txBody>
      </p:sp>
      <p:sp>
        <p:nvSpPr>
          <p:cNvPr id="6" name="Text 4"/>
          <p:cNvSpPr/>
          <p:nvPr/>
        </p:nvSpPr>
        <p:spPr>
          <a:xfrm>
            <a:off x="548640" y="1417320"/>
            <a:ext cx="11064240" cy="640080"/>
          </a:xfrm>
          <a:prstGeom prst="rect">
            <a:avLst/>
          </a:prstGeom>
          <a:noFill/>
          <a:ln/>
        </p:spPr>
        <p:txBody>
          <a:bodyPr wrap="square" lIns="0" tIns="0" rIns="0" bIns="0" rtlCol="0" anchor="ctr"/>
          <a:lstStyle/>
          <a:p>
            <a:pPr indent="0" marL="0">
              <a:lnSpc>
                <a:spcPts val="2000"/>
              </a:lnSpc>
              <a:buNone/>
            </a:pPr>
            <a:r>
              <a:rPr lang="en-US" sz="1400" dirty="0">
                <a:solidFill>
                  <a:srgbClr val="5A6178"/>
                </a:solidFill>
                <a:latin typeface="Arial" pitchFamily="34" charset="0"/>
                <a:ea typeface="Arial" pitchFamily="34" charset="-122"/>
                <a:cs typeface="Arial" pitchFamily="34" charset="-120"/>
              </a:rPr>
              <a:t>Tensor decompositions repair both problems by forcing each atom into a low-parameter format — representing the same patch at low rank rather than discarding its structure. The sparse code stays sparse regardless of dictionary size, so only the nonzero entries are ever stored or touched.</a:t>
            </a:r>
            <a:endParaRPr lang="en-US" sz="1400" dirty="0"/>
          </a:p>
        </p:txBody>
      </p:sp>
      <p:pic>
        <p:nvPicPr>
          <p:cNvPr id="7" name="Image 0" descr="/home/claude/work/figs/p06_Im1.png">    </p:cNvPr>
          <p:cNvPicPr>
            <a:picLocks noChangeAspect="1"/>
          </p:cNvPicPr>
          <p:nvPr/>
        </p:nvPicPr>
        <p:blipFill>
          <a:blip r:embed="rId1"/>
          <a:stretch>
            <a:fillRect/>
          </a:stretch>
        </p:blipFill>
        <p:spPr>
          <a:xfrm>
            <a:off x="1709928" y="2121408"/>
            <a:ext cx="8778240" cy="44074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CONTRIBUTIONS</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Four things this work puts on the table</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4</a:t>
            </a:r>
            <a:endParaRPr lang="en-US" sz="1200" dirty="0"/>
          </a:p>
        </p:txBody>
      </p:sp>
      <p:sp>
        <p:nvSpPr>
          <p:cNvPr id="6" name="Shape 4"/>
          <p:cNvSpPr/>
          <p:nvPr/>
        </p:nvSpPr>
        <p:spPr>
          <a:xfrm>
            <a:off x="548640" y="1627632"/>
            <a:ext cx="5376672" cy="2084832"/>
          </a:xfrm>
          <a:prstGeom prst="roundRect">
            <a:avLst>
              <a:gd name="adj" fmla="val 2193"/>
            </a:avLst>
          </a:prstGeom>
          <a:solidFill>
            <a:srgbClr val="F3F4F9"/>
          </a:solidFill>
          <a:ln w="9525">
            <a:solidFill>
              <a:srgbClr val="DCDFEC"/>
            </a:solidFill>
            <a:prstDash val="solid"/>
          </a:ln>
        </p:spPr>
      </p:sp>
      <p:sp>
        <p:nvSpPr>
          <p:cNvPr id="7" name="Shape 5"/>
          <p:cNvSpPr/>
          <p:nvPr/>
        </p:nvSpPr>
        <p:spPr>
          <a:xfrm>
            <a:off x="841248" y="1901952"/>
            <a:ext cx="475488" cy="475488"/>
          </a:xfrm>
          <a:prstGeom prst="ellipse">
            <a:avLst/>
          </a:prstGeom>
          <a:solidFill>
            <a:srgbClr val="101534"/>
          </a:solidFill>
          <a:ln/>
        </p:spPr>
      </p:sp>
      <p:sp>
        <p:nvSpPr>
          <p:cNvPr id="8" name="Text 6"/>
          <p:cNvSpPr/>
          <p:nvPr/>
        </p:nvSpPr>
        <p:spPr>
          <a:xfrm>
            <a:off x="841248" y="1901952"/>
            <a:ext cx="475488" cy="475488"/>
          </a:xfrm>
          <a:prstGeom prst="rect">
            <a:avLst/>
          </a:prstGeom>
          <a:noFill/>
          <a:ln/>
        </p:spPr>
        <p:txBody>
          <a:bodyPr wrap="square" lIns="0" tIns="0" rIns="0" bIns="0" rtlCol="0" anchor="ctr"/>
          <a:lstStyle/>
          <a:p>
            <a:pPr algn="ctr" indent="0" marL="0">
              <a:buNone/>
            </a:pPr>
            <a:r>
              <a:rPr lang="en-US" sz="1600" b="1" dirty="0">
                <a:solidFill>
                  <a:srgbClr val="E8A13A"/>
                </a:solidFill>
                <a:latin typeface="Georgia" pitchFamily="34" charset="0"/>
                <a:ea typeface="Georgia" pitchFamily="34" charset="-122"/>
                <a:cs typeface="Georgia" pitchFamily="34" charset="-120"/>
              </a:rPr>
              <a:t>1</a:t>
            </a:r>
            <a:endParaRPr lang="en-US" sz="1600" dirty="0"/>
          </a:p>
        </p:txBody>
      </p:sp>
      <p:sp>
        <p:nvSpPr>
          <p:cNvPr id="9" name="Text 7"/>
          <p:cNvSpPr/>
          <p:nvPr/>
        </p:nvSpPr>
        <p:spPr>
          <a:xfrm>
            <a:off x="1481328" y="1920240"/>
            <a:ext cx="4206240" cy="365760"/>
          </a:xfrm>
          <a:prstGeom prst="rect">
            <a:avLst/>
          </a:prstGeom>
          <a:noFill/>
          <a:ln/>
        </p:spPr>
        <p:txBody>
          <a:bodyPr wrap="square" lIns="0" tIns="0" rIns="0" bIns="0" rtlCol="0" anchor="ctr"/>
          <a:lstStyle/>
          <a:p>
            <a:pPr indent="0" marL="0">
              <a:buNone/>
            </a:pPr>
            <a:r>
              <a:rPr lang="en-US" sz="1900" b="1" dirty="0">
                <a:solidFill>
                  <a:srgbClr val="101534"/>
                </a:solidFill>
                <a:latin typeface="Georgia" pitchFamily="34" charset="0"/>
                <a:ea typeface="Georgia" pitchFamily="34" charset="-122"/>
                <a:cs typeface="Georgia" pitchFamily="34" charset="-120"/>
              </a:rPr>
              <a:t>One harness</a:t>
            </a:r>
            <a:endParaRPr lang="en-US" sz="1900" dirty="0"/>
          </a:p>
        </p:txBody>
      </p:sp>
      <p:sp>
        <p:nvSpPr>
          <p:cNvPr id="10" name="Text 8"/>
          <p:cNvSpPr/>
          <p:nvPr/>
        </p:nvSpPr>
        <p:spPr>
          <a:xfrm>
            <a:off x="1481328" y="2377440"/>
            <a:ext cx="4206240" cy="1170432"/>
          </a:xfrm>
          <a:prstGeom prst="rect">
            <a:avLst/>
          </a:prstGeom>
          <a:noFill/>
          <a:ln/>
        </p:spPr>
        <p:txBody>
          <a:bodyPr wrap="square" lIns="0" tIns="0" rIns="0" bIns="0" rtlCol="0" anchor="t"/>
          <a:lstStyle/>
          <a:p>
            <a:pPr indent="0" marL="0">
              <a:lnSpc>
                <a:spcPts val="1800"/>
              </a:lnSpc>
              <a:buNone/>
            </a:pPr>
            <a:r>
              <a:rPr lang="en-US" sz="1250" dirty="0">
                <a:solidFill>
                  <a:srgbClr val="5A6178"/>
                </a:solidFill>
                <a:latin typeface="Arial" pitchFamily="34" charset="0"/>
                <a:ea typeface="Arial" pitchFamily="34" charset="-122"/>
                <a:cs typeface="Arial" pitchFamily="34" charset="-120"/>
              </a:rPr>
              <a:t>CP, Tucker, TT, TR, BTD and an unstructured baseline share the same OMP sparse coding, the same reconstruction and the same evaluation — so only atom structure differs.</a:t>
            </a:r>
            <a:endParaRPr lang="en-US" sz="1250" dirty="0"/>
          </a:p>
        </p:txBody>
      </p:sp>
      <p:sp>
        <p:nvSpPr>
          <p:cNvPr id="11" name="Shape 9"/>
          <p:cNvSpPr/>
          <p:nvPr/>
        </p:nvSpPr>
        <p:spPr>
          <a:xfrm>
            <a:off x="6263640" y="1627632"/>
            <a:ext cx="5376672" cy="2084832"/>
          </a:xfrm>
          <a:prstGeom prst="roundRect">
            <a:avLst>
              <a:gd name="adj" fmla="val 2193"/>
            </a:avLst>
          </a:prstGeom>
          <a:solidFill>
            <a:srgbClr val="F3F4F9"/>
          </a:solidFill>
          <a:ln w="9525">
            <a:solidFill>
              <a:srgbClr val="DCDFEC"/>
            </a:solidFill>
            <a:prstDash val="solid"/>
          </a:ln>
        </p:spPr>
      </p:sp>
      <p:sp>
        <p:nvSpPr>
          <p:cNvPr id="12" name="Shape 10"/>
          <p:cNvSpPr/>
          <p:nvPr/>
        </p:nvSpPr>
        <p:spPr>
          <a:xfrm>
            <a:off x="6556248" y="1901952"/>
            <a:ext cx="475488" cy="475488"/>
          </a:xfrm>
          <a:prstGeom prst="ellipse">
            <a:avLst/>
          </a:prstGeom>
          <a:solidFill>
            <a:srgbClr val="101534"/>
          </a:solidFill>
          <a:ln/>
        </p:spPr>
      </p:sp>
      <p:sp>
        <p:nvSpPr>
          <p:cNvPr id="13" name="Text 11"/>
          <p:cNvSpPr/>
          <p:nvPr/>
        </p:nvSpPr>
        <p:spPr>
          <a:xfrm>
            <a:off x="6556248" y="1901952"/>
            <a:ext cx="475488" cy="475488"/>
          </a:xfrm>
          <a:prstGeom prst="rect">
            <a:avLst/>
          </a:prstGeom>
          <a:noFill/>
          <a:ln/>
        </p:spPr>
        <p:txBody>
          <a:bodyPr wrap="square" lIns="0" tIns="0" rIns="0" bIns="0" rtlCol="0" anchor="ctr"/>
          <a:lstStyle/>
          <a:p>
            <a:pPr algn="ctr" indent="0" marL="0">
              <a:buNone/>
            </a:pPr>
            <a:r>
              <a:rPr lang="en-US" sz="1600" b="1" dirty="0">
                <a:solidFill>
                  <a:srgbClr val="E8A13A"/>
                </a:solidFill>
                <a:latin typeface="Georgia" pitchFamily="34" charset="0"/>
                <a:ea typeface="Georgia" pitchFamily="34" charset="-122"/>
                <a:cs typeface="Georgia" pitchFamily="34" charset="-120"/>
              </a:rPr>
              <a:t>2</a:t>
            </a:r>
            <a:endParaRPr lang="en-US" sz="1600" dirty="0"/>
          </a:p>
        </p:txBody>
      </p:sp>
      <p:sp>
        <p:nvSpPr>
          <p:cNvPr id="14" name="Text 12"/>
          <p:cNvSpPr/>
          <p:nvPr/>
        </p:nvSpPr>
        <p:spPr>
          <a:xfrm>
            <a:off x="7196328" y="1920240"/>
            <a:ext cx="4206240" cy="365760"/>
          </a:xfrm>
          <a:prstGeom prst="rect">
            <a:avLst/>
          </a:prstGeom>
          <a:noFill/>
          <a:ln/>
        </p:spPr>
        <p:txBody>
          <a:bodyPr wrap="square" lIns="0" tIns="0" rIns="0" bIns="0" rtlCol="0" anchor="ctr"/>
          <a:lstStyle/>
          <a:p>
            <a:pPr indent="0" marL="0">
              <a:buNone/>
            </a:pPr>
            <a:r>
              <a:rPr lang="en-US" sz="1900" b="1" dirty="0">
                <a:solidFill>
                  <a:srgbClr val="101534"/>
                </a:solidFill>
                <a:latin typeface="Georgia" pitchFamily="34" charset="0"/>
                <a:ea typeface="Georgia" pitchFamily="34" charset="-122"/>
                <a:cs typeface="Georgia" pitchFamily="34" charset="-120"/>
              </a:rPr>
              <a:t>A projection view</a:t>
            </a:r>
            <a:endParaRPr lang="en-US" sz="1900" dirty="0"/>
          </a:p>
        </p:txBody>
      </p:sp>
      <p:sp>
        <p:nvSpPr>
          <p:cNvPr id="15" name="Text 13"/>
          <p:cNvSpPr/>
          <p:nvPr/>
        </p:nvSpPr>
        <p:spPr>
          <a:xfrm>
            <a:off x="7196328" y="2377440"/>
            <a:ext cx="4206240" cy="1170432"/>
          </a:xfrm>
          <a:prstGeom prst="rect">
            <a:avLst/>
          </a:prstGeom>
          <a:noFill/>
          <a:ln/>
        </p:spPr>
        <p:txBody>
          <a:bodyPr wrap="square" lIns="0" tIns="0" rIns="0" bIns="0" rtlCol="0" anchor="t"/>
          <a:lstStyle/>
          <a:p>
            <a:pPr indent="0" marL="0">
              <a:lnSpc>
                <a:spcPts val="1800"/>
              </a:lnSpc>
              <a:buNone/>
            </a:pPr>
            <a:r>
              <a:rPr lang="en-US" sz="1250" dirty="0">
                <a:solidFill>
                  <a:srgbClr val="5A6178"/>
                </a:solidFill>
                <a:latin typeface="Arial" pitchFamily="34" charset="0"/>
                <a:ea typeface="Arial" pitchFamily="34" charset="-122"/>
                <a:cs typeface="Arial" pitchFamily="34" charset="-120"/>
              </a:rPr>
              <a:t>CP / TT / TR / BTD are realized as one line changed inside the K-SVD atom update; Tucker is matched in-harness via separable alternating least squares.</a:t>
            </a:r>
            <a:endParaRPr lang="en-US" sz="1250" dirty="0"/>
          </a:p>
        </p:txBody>
      </p:sp>
      <p:sp>
        <p:nvSpPr>
          <p:cNvPr id="16" name="Shape 14"/>
          <p:cNvSpPr/>
          <p:nvPr/>
        </p:nvSpPr>
        <p:spPr>
          <a:xfrm>
            <a:off x="548640" y="3959352"/>
            <a:ext cx="5376672" cy="2084832"/>
          </a:xfrm>
          <a:prstGeom prst="roundRect">
            <a:avLst>
              <a:gd name="adj" fmla="val 2193"/>
            </a:avLst>
          </a:prstGeom>
          <a:solidFill>
            <a:srgbClr val="F3F4F9"/>
          </a:solidFill>
          <a:ln w="9525">
            <a:solidFill>
              <a:srgbClr val="DCDFEC"/>
            </a:solidFill>
            <a:prstDash val="solid"/>
          </a:ln>
        </p:spPr>
      </p:sp>
      <p:sp>
        <p:nvSpPr>
          <p:cNvPr id="17" name="Shape 15"/>
          <p:cNvSpPr/>
          <p:nvPr/>
        </p:nvSpPr>
        <p:spPr>
          <a:xfrm>
            <a:off x="841248" y="4233672"/>
            <a:ext cx="475488" cy="475488"/>
          </a:xfrm>
          <a:prstGeom prst="ellipse">
            <a:avLst/>
          </a:prstGeom>
          <a:solidFill>
            <a:srgbClr val="101534"/>
          </a:solidFill>
          <a:ln/>
        </p:spPr>
      </p:sp>
      <p:sp>
        <p:nvSpPr>
          <p:cNvPr id="18" name="Text 16"/>
          <p:cNvSpPr/>
          <p:nvPr/>
        </p:nvSpPr>
        <p:spPr>
          <a:xfrm>
            <a:off x="841248" y="4233672"/>
            <a:ext cx="475488" cy="475488"/>
          </a:xfrm>
          <a:prstGeom prst="rect">
            <a:avLst/>
          </a:prstGeom>
          <a:noFill/>
          <a:ln/>
        </p:spPr>
        <p:txBody>
          <a:bodyPr wrap="square" lIns="0" tIns="0" rIns="0" bIns="0" rtlCol="0" anchor="ctr"/>
          <a:lstStyle/>
          <a:p>
            <a:pPr algn="ctr" indent="0" marL="0">
              <a:buNone/>
            </a:pPr>
            <a:r>
              <a:rPr lang="en-US" sz="1600" b="1" dirty="0">
                <a:solidFill>
                  <a:srgbClr val="E8A13A"/>
                </a:solidFill>
                <a:latin typeface="Georgia" pitchFamily="34" charset="0"/>
                <a:ea typeface="Georgia" pitchFamily="34" charset="-122"/>
                <a:cs typeface="Georgia" pitchFamily="34" charset="-120"/>
              </a:rPr>
              <a:t>3</a:t>
            </a:r>
            <a:endParaRPr lang="en-US" sz="1600" dirty="0"/>
          </a:p>
        </p:txBody>
      </p:sp>
      <p:sp>
        <p:nvSpPr>
          <p:cNvPr id="19" name="Text 17"/>
          <p:cNvSpPr/>
          <p:nvPr/>
        </p:nvSpPr>
        <p:spPr>
          <a:xfrm>
            <a:off x="1481328" y="4251960"/>
            <a:ext cx="4206240" cy="365760"/>
          </a:xfrm>
          <a:prstGeom prst="rect">
            <a:avLst/>
          </a:prstGeom>
          <a:noFill/>
          <a:ln/>
        </p:spPr>
        <p:txBody>
          <a:bodyPr wrap="square" lIns="0" tIns="0" rIns="0" bIns="0" rtlCol="0" anchor="ctr"/>
          <a:lstStyle/>
          <a:p>
            <a:pPr indent="0" marL="0">
              <a:buNone/>
            </a:pPr>
            <a:r>
              <a:rPr lang="en-US" sz="1900" b="1" dirty="0">
                <a:solidFill>
                  <a:srgbClr val="101534"/>
                </a:solidFill>
                <a:latin typeface="Georgia" pitchFamily="34" charset="0"/>
                <a:ea typeface="Georgia" pitchFamily="34" charset="-122"/>
                <a:cs typeface="Georgia" pitchFamily="34" charset="-120"/>
              </a:rPr>
              <a:t>A ranking system</a:t>
            </a:r>
            <a:endParaRPr lang="en-US" sz="1900" dirty="0"/>
          </a:p>
        </p:txBody>
      </p:sp>
      <p:sp>
        <p:nvSpPr>
          <p:cNvPr id="20" name="Text 18"/>
          <p:cNvSpPr/>
          <p:nvPr/>
        </p:nvSpPr>
        <p:spPr>
          <a:xfrm>
            <a:off x="1481328" y="4709160"/>
            <a:ext cx="4206240" cy="1170432"/>
          </a:xfrm>
          <a:prstGeom prst="rect">
            <a:avLst/>
          </a:prstGeom>
          <a:noFill/>
          <a:ln/>
        </p:spPr>
        <p:txBody>
          <a:bodyPr wrap="square" lIns="0" tIns="0" rIns="0" bIns="0" rtlCol="0" anchor="t"/>
          <a:lstStyle/>
          <a:p>
            <a:pPr indent="0" marL="0">
              <a:lnSpc>
                <a:spcPts val="1800"/>
              </a:lnSpc>
              <a:buNone/>
            </a:pPr>
            <a:r>
              <a:rPr lang="en-US" sz="1250" dirty="0">
                <a:solidFill>
                  <a:srgbClr val="5A6178"/>
                </a:solidFill>
                <a:latin typeface="Arial" pitchFamily="34" charset="0"/>
                <a:ea typeface="Arial" pitchFamily="34" charset="-122"/>
                <a:cs typeface="Arial" pitchFamily="34" charset="-120"/>
              </a:rPr>
              <a:t>Three layers, objective to opinionated: Pareto dominance, an accuracy-per-parameter scalar, and profile-weighted composite tiers.</a:t>
            </a:r>
            <a:endParaRPr lang="en-US" sz="1250" dirty="0"/>
          </a:p>
        </p:txBody>
      </p:sp>
      <p:sp>
        <p:nvSpPr>
          <p:cNvPr id="21" name="Shape 19"/>
          <p:cNvSpPr/>
          <p:nvPr/>
        </p:nvSpPr>
        <p:spPr>
          <a:xfrm>
            <a:off x="6263640" y="3959352"/>
            <a:ext cx="5376672" cy="2084832"/>
          </a:xfrm>
          <a:prstGeom prst="roundRect">
            <a:avLst>
              <a:gd name="adj" fmla="val 2193"/>
            </a:avLst>
          </a:prstGeom>
          <a:solidFill>
            <a:srgbClr val="F3F4F9"/>
          </a:solidFill>
          <a:ln w="9525">
            <a:solidFill>
              <a:srgbClr val="DCDFEC"/>
            </a:solidFill>
            <a:prstDash val="solid"/>
          </a:ln>
        </p:spPr>
      </p:sp>
      <p:sp>
        <p:nvSpPr>
          <p:cNvPr id="22" name="Shape 20"/>
          <p:cNvSpPr/>
          <p:nvPr/>
        </p:nvSpPr>
        <p:spPr>
          <a:xfrm>
            <a:off x="6556248" y="4233672"/>
            <a:ext cx="475488" cy="475488"/>
          </a:xfrm>
          <a:prstGeom prst="ellipse">
            <a:avLst/>
          </a:prstGeom>
          <a:solidFill>
            <a:srgbClr val="101534"/>
          </a:solidFill>
          <a:ln/>
        </p:spPr>
      </p:sp>
      <p:sp>
        <p:nvSpPr>
          <p:cNvPr id="23" name="Text 21"/>
          <p:cNvSpPr/>
          <p:nvPr/>
        </p:nvSpPr>
        <p:spPr>
          <a:xfrm>
            <a:off x="6556248" y="4233672"/>
            <a:ext cx="475488" cy="475488"/>
          </a:xfrm>
          <a:prstGeom prst="rect">
            <a:avLst/>
          </a:prstGeom>
          <a:noFill/>
          <a:ln/>
        </p:spPr>
        <p:txBody>
          <a:bodyPr wrap="square" lIns="0" tIns="0" rIns="0" bIns="0" rtlCol="0" anchor="ctr"/>
          <a:lstStyle/>
          <a:p>
            <a:pPr algn="ctr" indent="0" marL="0">
              <a:buNone/>
            </a:pPr>
            <a:r>
              <a:rPr lang="en-US" sz="1600" b="1" dirty="0">
                <a:solidFill>
                  <a:srgbClr val="E8A13A"/>
                </a:solidFill>
                <a:latin typeface="Georgia" pitchFamily="34" charset="0"/>
                <a:ea typeface="Georgia" pitchFamily="34" charset="-122"/>
                <a:cs typeface="Georgia" pitchFamily="34" charset="-120"/>
              </a:rPr>
              <a:t>4</a:t>
            </a:r>
            <a:endParaRPr lang="en-US" sz="1600" dirty="0"/>
          </a:p>
        </p:txBody>
      </p:sp>
      <p:sp>
        <p:nvSpPr>
          <p:cNvPr id="24" name="Text 22"/>
          <p:cNvSpPr/>
          <p:nvPr/>
        </p:nvSpPr>
        <p:spPr>
          <a:xfrm>
            <a:off x="7196328" y="4251960"/>
            <a:ext cx="4206240" cy="365760"/>
          </a:xfrm>
          <a:prstGeom prst="rect">
            <a:avLst/>
          </a:prstGeom>
          <a:noFill/>
          <a:ln/>
        </p:spPr>
        <p:txBody>
          <a:bodyPr wrap="square" lIns="0" tIns="0" rIns="0" bIns="0" rtlCol="0" anchor="ctr"/>
          <a:lstStyle/>
          <a:p>
            <a:pPr indent="0" marL="0">
              <a:buNone/>
            </a:pPr>
            <a:r>
              <a:rPr lang="en-US" sz="1900" b="1" dirty="0">
                <a:solidFill>
                  <a:srgbClr val="101534"/>
                </a:solidFill>
                <a:latin typeface="Georgia" pitchFamily="34" charset="0"/>
                <a:ea typeface="Georgia" pitchFamily="34" charset="-122"/>
                <a:cs typeface="Georgia" pitchFamily="34" charset="-120"/>
              </a:rPr>
              <a:t>Three regimes tested</a:t>
            </a:r>
            <a:endParaRPr lang="en-US" sz="1900" dirty="0"/>
          </a:p>
        </p:txBody>
      </p:sp>
      <p:sp>
        <p:nvSpPr>
          <p:cNvPr id="25" name="Text 23"/>
          <p:cNvSpPr/>
          <p:nvPr/>
        </p:nvSpPr>
        <p:spPr>
          <a:xfrm>
            <a:off x="7196328" y="4709160"/>
            <a:ext cx="4206240" cy="1170432"/>
          </a:xfrm>
          <a:prstGeom prst="rect">
            <a:avLst/>
          </a:prstGeom>
          <a:noFill/>
          <a:ln/>
        </p:spPr>
        <p:txBody>
          <a:bodyPr wrap="square" lIns="0" tIns="0" rIns="0" bIns="0" rtlCol="0" anchor="t"/>
          <a:lstStyle/>
          <a:p>
            <a:pPr indent="0" marL="0">
              <a:lnSpc>
                <a:spcPts val="1800"/>
              </a:lnSpc>
              <a:buNone/>
            </a:pPr>
            <a:r>
              <a:rPr lang="en-US" sz="1250" dirty="0">
                <a:solidFill>
                  <a:srgbClr val="5A6178"/>
                </a:solidFill>
                <a:latin typeface="Arial" pitchFamily="34" charset="0"/>
                <a:ea typeface="Arial" pitchFamily="34" charset="-122"/>
                <a:cs typeface="Arial" pitchFamily="34" charset="-120"/>
              </a:rPr>
              <a:t>Synthetic mixed-structure patches, real RGB patches and a hyperspectral cube — including a matched-parameter-budget rate–distortion study across noise levels.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EXPERIMENTAL DESIGN</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What is held identical, and what is allowed to vary</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5</a:t>
            </a:r>
            <a:endParaRPr lang="en-US" sz="1200" dirty="0"/>
          </a:p>
        </p:txBody>
      </p:sp>
      <p:sp>
        <p:nvSpPr>
          <p:cNvPr id="6" name="Text 4"/>
          <p:cNvSpPr/>
          <p:nvPr/>
        </p:nvSpPr>
        <p:spPr>
          <a:xfrm>
            <a:off x="548640" y="1417320"/>
            <a:ext cx="11064240" cy="566928"/>
          </a:xfrm>
          <a:prstGeom prst="rect">
            <a:avLst/>
          </a:prstGeom>
          <a:noFill/>
          <a:ln/>
        </p:spPr>
        <p:txBody>
          <a:bodyPr wrap="square" lIns="0" tIns="0" rIns="0" bIns="0" rtlCol="0" anchor="ctr"/>
          <a:lstStyle/>
          <a:p>
            <a:pPr indent="0" marL="0">
              <a:lnSpc>
                <a:spcPts val="1900"/>
              </a:lnSpc>
              <a:buNone/>
            </a:pPr>
            <a:r>
              <a:rPr lang="en-US" sz="1350" dirty="0">
                <a:solidFill>
                  <a:srgbClr val="5A6178"/>
                </a:solidFill>
                <a:latin typeface="Arial" pitchFamily="34" charset="0"/>
                <a:ea typeface="Arial" pitchFamily="34" charset="-122"/>
                <a:cs typeface="Arial" pitchFamily="34" charset="-120"/>
              </a:rPr>
              <a:t>Cross-method comparisons in this literature are unreliable because each construction ships with its own optimizer — an observed gap may reflect the optimizer or hand-picked settings rather than the decomposition.</a:t>
            </a:r>
            <a:endParaRPr lang="en-US" sz="1350" dirty="0"/>
          </a:p>
        </p:txBody>
      </p:sp>
      <p:sp>
        <p:nvSpPr>
          <p:cNvPr id="7" name="Shape 5"/>
          <p:cNvSpPr/>
          <p:nvPr/>
        </p:nvSpPr>
        <p:spPr>
          <a:xfrm>
            <a:off x="548640" y="2148840"/>
            <a:ext cx="5440680" cy="3246120"/>
          </a:xfrm>
          <a:prstGeom prst="roundRect">
            <a:avLst>
              <a:gd name="adj" fmla="val 1408"/>
            </a:avLst>
          </a:prstGeom>
          <a:solidFill>
            <a:srgbClr val="FFFFFF"/>
          </a:solidFill>
          <a:ln w="9525">
            <a:solidFill>
              <a:srgbClr val="DCDFEC"/>
            </a:solidFill>
            <a:prstDash val="solid"/>
          </a:ln>
        </p:spPr>
      </p:sp>
      <p:sp>
        <p:nvSpPr>
          <p:cNvPr id="8" name="Shape 6"/>
          <p:cNvSpPr/>
          <p:nvPr/>
        </p:nvSpPr>
        <p:spPr>
          <a:xfrm>
            <a:off x="868680" y="2450592"/>
            <a:ext cx="402336" cy="402336"/>
          </a:xfrm>
          <a:prstGeom prst="ellipse">
            <a:avLst/>
          </a:prstGeom>
          <a:solidFill>
            <a:srgbClr val="2E9E8F"/>
          </a:solidFill>
          <a:ln/>
        </p:spPr>
      </p:sp>
      <p:sp>
        <p:nvSpPr>
          <p:cNvPr id="9" name="Text 7"/>
          <p:cNvSpPr/>
          <p:nvPr/>
        </p:nvSpPr>
        <p:spPr>
          <a:xfrm>
            <a:off x="868680" y="245059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0" name="Text 8"/>
          <p:cNvSpPr/>
          <p:nvPr/>
        </p:nvSpPr>
        <p:spPr>
          <a:xfrm>
            <a:off x="1417320" y="2468880"/>
            <a:ext cx="4206240" cy="365760"/>
          </a:xfrm>
          <a:prstGeom prst="rect">
            <a:avLst/>
          </a:prstGeom>
          <a:noFill/>
          <a:ln/>
        </p:spPr>
        <p:txBody>
          <a:bodyPr wrap="square" lIns="0" tIns="0" rIns="0" bIns="0" rtlCol="0" anchor="ctr"/>
          <a:lstStyle/>
          <a:p>
            <a:pPr indent="0" marL="0">
              <a:buNone/>
            </a:pPr>
            <a:r>
              <a:rPr lang="en-US" sz="2100" b="1" dirty="0">
                <a:solidFill>
                  <a:srgbClr val="101534"/>
                </a:solidFill>
                <a:latin typeface="Georgia" pitchFamily="34" charset="0"/>
                <a:ea typeface="Georgia" pitchFamily="34" charset="-122"/>
                <a:cs typeface="Georgia" pitchFamily="34" charset="-120"/>
              </a:rPr>
              <a:t>Held identical</a:t>
            </a:r>
            <a:endParaRPr lang="en-US" sz="2100" dirty="0"/>
          </a:p>
        </p:txBody>
      </p:sp>
      <p:sp>
        <p:nvSpPr>
          <p:cNvPr id="11" name="Text 9"/>
          <p:cNvSpPr/>
          <p:nvPr/>
        </p:nvSpPr>
        <p:spPr>
          <a:xfrm>
            <a:off x="914400" y="2999232"/>
            <a:ext cx="4754880" cy="21945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5A6178"/>
                </a:solidFill>
                <a:latin typeface="Arial" pitchFamily="34" charset="0"/>
                <a:ea typeface="Arial" pitchFamily="34" charset="-122"/>
                <a:cs typeface="Arial" pitchFamily="34" charset="-120"/>
              </a:rPr>
              <a:t>The sparse-coding objective and its solver — Orthogonal Matching Pursuit against the effective dictionary D</a:t>
            </a:r>
            <a:endParaRPr lang="en-US" sz="1300" dirty="0"/>
          </a:p>
          <a:p>
            <a:pPr marL="177800" indent="-177800">
              <a:spcAft>
                <a:spcPts val="800"/>
              </a:spcAft>
              <a:buSzPct val="100000"/>
              <a:buChar char="•"/>
            </a:pPr>
            <a:r>
              <a:rPr lang="en-US" sz="1300" dirty="0">
                <a:solidFill>
                  <a:srgbClr val="5A6178"/>
                </a:solidFill>
                <a:latin typeface="Arial" pitchFamily="34" charset="0"/>
                <a:ea typeface="Arial" pitchFamily="34" charset="-122"/>
                <a:cs typeface="Arial" pitchFamily="34" charset="-120"/>
              </a:rPr>
              <a:t>Reconstruction: the same linear map x ↦ Dx for every method</a:t>
            </a:r>
            <a:endParaRPr lang="en-US" sz="1300" dirty="0"/>
          </a:p>
          <a:p>
            <a:pPr marL="177800" indent="-177800">
              <a:spcAft>
                <a:spcPts val="800"/>
              </a:spcAft>
              <a:buSzPct val="100000"/>
              <a:buChar char="•"/>
            </a:pPr>
            <a:r>
              <a:rPr lang="en-US" sz="1300" dirty="0">
                <a:solidFill>
                  <a:srgbClr val="5A6178"/>
                </a:solidFill>
                <a:latin typeface="Arial" pitchFamily="34" charset="0"/>
                <a:ea typeface="Arial" pitchFamily="34" charset="-122"/>
                <a:cs typeface="Arial" pitchFamily="34" charset="-120"/>
              </a:rPr>
              <a:t>Training data, noise level, sparsity cap and random seeds</a:t>
            </a:r>
            <a:endParaRPr lang="en-US" sz="1300" dirty="0"/>
          </a:p>
          <a:p>
            <a:pPr marL="177800" indent="-177800">
              <a:spcAft>
                <a:spcPts val="800"/>
              </a:spcAft>
              <a:buSzPct val="100000"/>
              <a:buChar char="•"/>
            </a:pPr>
            <a:r>
              <a:rPr lang="en-US" sz="1300" dirty="0">
                <a:solidFill>
                  <a:srgbClr val="5A6178"/>
                </a:solidFill>
                <a:latin typeface="Arial" pitchFamily="34" charset="0"/>
                <a:ea typeface="Arial" pitchFamily="34" charset="-122"/>
                <a:cs typeface="Arial" pitchFamily="34" charset="-120"/>
              </a:rPr>
              <a:t>Evaluation: denoising PSNR against clean held-out test patches</a:t>
            </a:r>
            <a:endParaRPr lang="en-US" sz="1300" dirty="0"/>
          </a:p>
        </p:txBody>
      </p:sp>
      <p:sp>
        <p:nvSpPr>
          <p:cNvPr id="12" name="Shape 10"/>
          <p:cNvSpPr/>
          <p:nvPr/>
        </p:nvSpPr>
        <p:spPr>
          <a:xfrm>
            <a:off x="6199632" y="2148840"/>
            <a:ext cx="5440680" cy="3246120"/>
          </a:xfrm>
          <a:prstGeom prst="roundRect">
            <a:avLst>
              <a:gd name="adj" fmla="val 1408"/>
            </a:avLst>
          </a:prstGeom>
          <a:solidFill>
            <a:srgbClr val="FFFFFF"/>
          </a:solidFill>
          <a:ln w="9525">
            <a:solidFill>
              <a:srgbClr val="DCDFEC"/>
            </a:solidFill>
            <a:prstDash val="solid"/>
          </a:ln>
        </p:spPr>
      </p:sp>
      <p:sp>
        <p:nvSpPr>
          <p:cNvPr id="13" name="Shape 11"/>
          <p:cNvSpPr/>
          <p:nvPr/>
        </p:nvSpPr>
        <p:spPr>
          <a:xfrm>
            <a:off x="6519672" y="2450592"/>
            <a:ext cx="402336" cy="402336"/>
          </a:xfrm>
          <a:prstGeom prst="ellipse">
            <a:avLst/>
          </a:prstGeom>
          <a:solidFill>
            <a:srgbClr val="E8A13A"/>
          </a:solidFill>
          <a:ln/>
        </p:spPr>
      </p:sp>
      <p:sp>
        <p:nvSpPr>
          <p:cNvPr id="14" name="Text 12"/>
          <p:cNvSpPr/>
          <p:nvPr/>
        </p:nvSpPr>
        <p:spPr>
          <a:xfrm>
            <a:off x="6519672" y="2450592"/>
            <a:ext cx="402336" cy="402336"/>
          </a:xfrm>
          <a:prstGeom prst="rect">
            <a:avLst/>
          </a:prstGeom>
          <a:noFill/>
          <a:ln/>
        </p:spPr>
        <p:txBody>
          <a:bodyPr wrap="square" lIns="0" tIns="0" rIns="0" bIns="0" rtlCol="0" anchor="ctr"/>
          <a:lstStyle/>
          <a:p>
            <a:pPr algn="ctr" indent="0" marL="0">
              <a:buNone/>
            </a:pPr>
            <a:r>
              <a:rPr lang="en-US" sz="1800" b="1" dirty="0">
                <a:solidFill>
                  <a:srgbClr val="101534"/>
                </a:solidFill>
                <a:latin typeface="Georgia" pitchFamily="34" charset="0"/>
                <a:ea typeface="Georgia" pitchFamily="34" charset="-122"/>
                <a:cs typeface="Georgia" pitchFamily="34" charset="-120"/>
              </a:rPr>
              <a:t>≠</a:t>
            </a:r>
            <a:endParaRPr lang="en-US" sz="1800" dirty="0"/>
          </a:p>
        </p:txBody>
      </p:sp>
      <p:sp>
        <p:nvSpPr>
          <p:cNvPr id="15" name="Text 13"/>
          <p:cNvSpPr/>
          <p:nvPr/>
        </p:nvSpPr>
        <p:spPr>
          <a:xfrm>
            <a:off x="7068312" y="2468880"/>
            <a:ext cx="4206240" cy="365760"/>
          </a:xfrm>
          <a:prstGeom prst="rect">
            <a:avLst/>
          </a:prstGeom>
          <a:noFill/>
          <a:ln/>
        </p:spPr>
        <p:txBody>
          <a:bodyPr wrap="square" lIns="0" tIns="0" rIns="0" bIns="0" rtlCol="0" anchor="ctr"/>
          <a:lstStyle/>
          <a:p>
            <a:pPr indent="0" marL="0">
              <a:buNone/>
            </a:pPr>
            <a:r>
              <a:rPr lang="en-US" sz="2100" b="1" dirty="0">
                <a:solidFill>
                  <a:srgbClr val="101534"/>
                </a:solidFill>
                <a:latin typeface="Georgia" pitchFamily="34" charset="0"/>
                <a:ea typeface="Georgia" pitchFamily="34" charset="-122"/>
                <a:cs typeface="Georgia" pitchFamily="34" charset="-120"/>
              </a:rPr>
              <a:t>Allowed to vary</a:t>
            </a:r>
            <a:endParaRPr lang="en-US" sz="2100" dirty="0"/>
          </a:p>
        </p:txBody>
      </p:sp>
      <p:sp>
        <p:nvSpPr>
          <p:cNvPr id="16" name="Text 14"/>
          <p:cNvSpPr/>
          <p:nvPr/>
        </p:nvSpPr>
        <p:spPr>
          <a:xfrm>
            <a:off x="6565392" y="2999232"/>
            <a:ext cx="4754880" cy="21945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5A6178"/>
                </a:solidFill>
                <a:latin typeface="Arial" pitchFamily="34" charset="0"/>
                <a:ea typeface="Arial" pitchFamily="34" charset="-122"/>
                <a:cs typeface="Arial" pitchFamily="34" charset="-120"/>
              </a:rPr>
              <a:t>How each atom is parameterized — the decomposition format it is projected onto</a:t>
            </a:r>
            <a:endParaRPr lang="en-US" sz="1300" dirty="0"/>
          </a:p>
          <a:p>
            <a:pPr marL="177800" indent="-177800">
              <a:spcAft>
                <a:spcPts val="800"/>
              </a:spcAft>
              <a:buSzPct val="100000"/>
              <a:buChar char="•"/>
            </a:pPr>
            <a:r>
              <a:rPr lang="en-US" sz="1300" dirty="0">
                <a:solidFill>
                  <a:srgbClr val="5A6178"/>
                </a:solidFill>
                <a:latin typeface="Arial" pitchFamily="34" charset="0"/>
                <a:ea typeface="Arial" pitchFamily="34" charset="-122"/>
                <a:cs typeface="Arial" pitchFamily="34" charset="-120"/>
              </a:rPr>
              <a:t>How many free parameters that parameterization costs to store</a:t>
            </a:r>
            <a:endParaRPr lang="en-US" sz="1300" dirty="0"/>
          </a:p>
          <a:p>
            <a:pPr marL="177800" indent="-177800">
              <a:spcAft>
                <a:spcPts val="800"/>
              </a:spcAft>
              <a:buSzPct val="100000"/>
              <a:buChar char="•"/>
            </a:pPr>
            <a:r>
              <a:rPr lang="en-US" sz="1300" dirty="0">
                <a:solidFill>
                  <a:srgbClr val="5A6178"/>
                </a:solidFill>
                <a:latin typeface="Arial" pitchFamily="34" charset="0"/>
                <a:ea typeface="Arial" pitchFamily="34" charset="-122"/>
                <a:cs typeface="Arial" pitchFamily="34" charset="-120"/>
              </a:rPr>
              <a:t>The rank knob each format exposes (CP rank R, TT/TR rank r, BTD block rank L)</a:t>
            </a:r>
            <a:endParaRPr lang="en-US" sz="1300" dirty="0"/>
          </a:p>
        </p:txBody>
      </p:sp>
      <p:sp>
        <p:nvSpPr>
          <p:cNvPr id="17" name="Text 15"/>
          <p:cNvSpPr/>
          <p:nvPr/>
        </p:nvSpPr>
        <p:spPr>
          <a:xfrm>
            <a:off x="548640" y="5623560"/>
            <a:ext cx="11064240" cy="365760"/>
          </a:xfrm>
          <a:prstGeom prst="rect">
            <a:avLst/>
          </a:prstGeom>
          <a:noFill/>
          <a:ln/>
        </p:spPr>
        <p:txBody>
          <a:bodyPr wrap="square" lIns="0" tIns="0" rIns="0" bIns="0" rtlCol="0" anchor="ctr"/>
          <a:lstStyle/>
          <a:p>
            <a:pPr indent="0" marL="0">
              <a:buNone/>
            </a:pPr>
            <a:r>
              <a:rPr lang="en-US" sz="1300" i="1" dirty="0">
                <a:solidFill>
                  <a:srgbClr val="2B3A8F"/>
                </a:solidFill>
                <a:latin typeface="Arial" pitchFamily="34" charset="0"/>
                <a:ea typeface="Arial" pitchFamily="34" charset="-122"/>
                <a:cs typeface="Arial" pitchFamily="34" charset="-120"/>
              </a:rPr>
              <a:t>Because the objective and its solver are shared, the accuracy comparison is apples-to-apples.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BACKGROUND</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The loop everything plugs into: K-SVD with OMP</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6</a:t>
            </a:r>
            <a:endParaRPr lang="en-US" sz="1200" dirty="0"/>
          </a:p>
        </p:txBody>
      </p:sp>
      <p:sp>
        <p:nvSpPr>
          <p:cNvPr id="6" name="Shape 4"/>
          <p:cNvSpPr/>
          <p:nvPr/>
        </p:nvSpPr>
        <p:spPr>
          <a:xfrm>
            <a:off x="548640" y="1600200"/>
            <a:ext cx="3584448" cy="2880360"/>
          </a:xfrm>
          <a:prstGeom prst="roundRect">
            <a:avLst>
              <a:gd name="adj" fmla="val 1587"/>
            </a:avLst>
          </a:prstGeom>
          <a:solidFill>
            <a:srgbClr val="FFFFFF"/>
          </a:solidFill>
          <a:ln w="9525">
            <a:solidFill>
              <a:srgbClr val="DCDFEC"/>
            </a:solidFill>
            <a:prstDash val="solid"/>
          </a:ln>
        </p:spPr>
      </p:sp>
      <p:sp>
        <p:nvSpPr>
          <p:cNvPr id="7" name="Text 5"/>
          <p:cNvSpPr/>
          <p:nvPr/>
        </p:nvSpPr>
        <p:spPr>
          <a:xfrm>
            <a:off x="822960" y="1783080"/>
            <a:ext cx="914400" cy="457200"/>
          </a:xfrm>
          <a:prstGeom prst="rect">
            <a:avLst/>
          </a:prstGeom>
          <a:noFill/>
          <a:ln/>
        </p:spPr>
        <p:txBody>
          <a:bodyPr wrap="square" lIns="0" tIns="0" rIns="0" bIns="0" rtlCol="0" anchor="ctr"/>
          <a:lstStyle/>
          <a:p>
            <a:pPr indent="0" marL="0">
              <a:buNone/>
            </a:pPr>
            <a:r>
              <a:rPr lang="en-US" sz="2600" b="1" dirty="0">
                <a:solidFill>
                  <a:srgbClr val="E8A13A"/>
                </a:solidFill>
                <a:latin typeface="Georgia" pitchFamily="34" charset="0"/>
                <a:ea typeface="Georgia" pitchFamily="34" charset="-122"/>
                <a:cs typeface="Georgia" pitchFamily="34" charset="-120"/>
              </a:rPr>
              <a:t>01</a:t>
            </a:r>
            <a:endParaRPr lang="en-US" sz="2600" dirty="0"/>
          </a:p>
        </p:txBody>
      </p:sp>
      <p:sp>
        <p:nvSpPr>
          <p:cNvPr id="8" name="Text 6"/>
          <p:cNvSpPr/>
          <p:nvPr/>
        </p:nvSpPr>
        <p:spPr>
          <a:xfrm>
            <a:off x="822960" y="2267712"/>
            <a:ext cx="3017520" cy="320040"/>
          </a:xfrm>
          <a:prstGeom prst="rect">
            <a:avLst/>
          </a:prstGeom>
          <a:noFill/>
          <a:ln/>
        </p:spPr>
        <p:txBody>
          <a:bodyPr wrap="square" lIns="0" tIns="0" rIns="0" bIns="0" rtlCol="0" anchor="ctr"/>
          <a:lstStyle/>
          <a:p>
            <a:pPr indent="0" marL="0">
              <a:buNone/>
            </a:pPr>
            <a:r>
              <a:rPr lang="en-US" sz="1800" b="1" dirty="0">
                <a:solidFill>
                  <a:srgbClr val="101534"/>
                </a:solidFill>
                <a:latin typeface="Georgia" pitchFamily="34" charset="0"/>
                <a:ea typeface="Georgia" pitchFamily="34" charset="-122"/>
                <a:cs typeface="Georgia" pitchFamily="34" charset="-120"/>
              </a:rPr>
              <a:t>Sparse coding</a:t>
            </a:r>
            <a:endParaRPr lang="en-US" sz="1800" dirty="0"/>
          </a:p>
        </p:txBody>
      </p:sp>
      <p:sp>
        <p:nvSpPr>
          <p:cNvPr id="9" name="Text 7"/>
          <p:cNvSpPr/>
          <p:nvPr/>
        </p:nvSpPr>
        <p:spPr>
          <a:xfrm>
            <a:off x="822960" y="2651760"/>
            <a:ext cx="3035808" cy="1691640"/>
          </a:xfrm>
          <a:prstGeom prst="rect">
            <a:avLst/>
          </a:prstGeom>
          <a:noFill/>
          <a:ln/>
        </p:spPr>
        <p:txBody>
          <a:bodyPr wrap="square" lIns="0" tIns="0" rIns="0" bIns="0" rtlCol="0" anchor="t"/>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OMP holds D fixed and picks atoms one at a time, re-solving all chosen coefficients by least squares after every pick. The residual stays orthogonal to the span already selected, so no atom is chosen twice.</a:t>
            </a:r>
            <a:endParaRPr lang="en-US" sz="1200" dirty="0"/>
          </a:p>
        </p:txBody>
      </p:sp>
      <p:sp>
        <p:nvSpPr>
          <p:cNvPr id="10" name="Text 8"/>
          <p:cNvSpPr/>
          <p:nvPr/>
        </p:nvSpPr>
        <p:spPr>
          <a:xfrm>
            <a:off x="4151376" y="2788920"/>
            <a:ext cx="274320" cy="365760"/>
          </a:xfrm>
          <a:prstGeom prst="rect">
            <a:avLst/>
          </a:prstGeom>
          <a:noFill/>
          <a:ln/>
        </p:spPr>
        <p:txBody>
          <a:bodyPr wrap="square" lIns="0" tIns="0" rIns="0" bIns="0" rtlCol="0" anchor="ctr"/>
          <a:lstStyle/>
          <a:p>
            <a:pPr algn="ctr" indent="0" marL="0">
              <a:buNone/>
            </a:pPr>
            <a:r>
              <a:rPr lang="en-US" sz="2000" b="1" dirty="0">
                <a:solidFill>
                  <a:srgbClr val="DCDFEC"/>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4425696" y="1600200"/>
            <a:ext cx="3584448" cy="2880360"/>
          </a:xfrm>
          <a:prstGeom prst="roundRect">
            <a:avLst>
              <a:gd name="adj" fmla="val 1587"/>
            </a:avLst>
          </a:prstGeom>
          <a:solidFill>
            <a:srgbClr val="FFFFFF"/>
          </a:solidFill>
          <a:ln w="9525">
            <a:solidFill>
              <a:srgbClr val="DCDFEC"/>
            </a:solidFill>
            <a:prstDash val="solid"/>
          </a:ln>
        </p:spPr>
      </p:sp>
      <p:sp>
        <p:nvSpPr>
          <p:cNvPr id="12" name="Text 10"/>
          <p:cNvSpPr/>
          <p:nvPr/>
        </p:nvSpPr>
        <p:spPr>
          <a:xfrm>
            <a:off x="4700016" y="1783080"/>
            <a:ext cx="914400" cy="457200"/>
          </a:xfrm>
          <a:prstGeom prst="rect">
            <a:avLst/>
          </a:prstGeom>
          <a:noFill/>
          <a:ln/>
        </p:spPr>
        <p:txBody>
          <a:bodyPr wrap="square" lIns="0" tIns="0" rIns="0" bIns="0" rtlCol="0" anchor="ctr"/>
          <a:lstStyle/>
          <a:p>
            <a:pPr indent="0" marL="0">
              <a:buNone/>
            </a:pPr>
            <a:r>
              <a:rPr lang="en-US" sz="2600" b="1" dirty="0">
                <a:solidFill>
                  <a:srgbClr val="E8A13A"/>
                </a:solidFill>
                <a:latin typeface="Georgia" pitchFamily="34" charset="0"/>
                <a:ea typeface="Georgia" pitchFamily="34" charset="-122"/>
                <a:cs typeface="Georgia" pitchFamily="34" charset="-120"/>
              </a:rPr>
              <a:t>02</a:t>
            </a:r>
            <a:endParaRPr lang="en-US" sz="2600" dirty="0"/>
          </a:p>
        </p:txBody>
      </p:sp>
      <p:sp>
        <p:nvSpPr>
          <p:cNvPr id="13" name="Text 11"/>
          <p:cNvSpPr/>
          <p:nvPr/>
        </p:nvSpPr>
        <p:spPr>
          <a:xfrm>
            <a:off x="4700016" y="2267712"/>
            <a:ext cx="3017520" cy="320040"/>
          </a:xfrm>
          <a:prstGeom prst="rect">
            <a:avLst/>
          </a:prstGeom>
          <a:noFill/>
          <a:ln/>
        </p:spPr>
        <p:txBody>
          <a:bodyPr wrap="square" lIns="0" tIns="0" rIns="0" bIns="0" rtlCol="0" anchor="ctr"/>
          <a:lstStyle/>
          <a:p>
            <a:pPr indent="0" marL="0">
              <a:buNone/>
            </a:pPr>
            <a:r>
              <a:rPr lang="en-US" sz="1800" b="1" dirty="0">
                <a:solidFill>
                  <a:srgbClr val="101534"/>
                </a:solidFill>
                <a:latin typeface="Georgia" pitchFamily="34" charset="0"/>
                <a:ea typeface="Georgia" pitchFamily="34" charset="-122"/>
                <a:cs typeface="Georgia" pitchFamily="34" charset="-120"/>
              </a:rPr>
              <a:t>Atom update</a:t>
            </a:r>
            <a:endParaRPr lang="en-US" sz="1800" dirty="0"/>
          </a:p>
        </p:txBody>
      </p:sp>
      <p:sp>
        <p:nvSpPr>
          <p:cNvPr id="14" name="Text 12"/>
          <p:cNvSpPr/>
          <p:nvPr/>
        </p:nvSpPr>
        <p:spPr>
          <a:xfrm>
            <a:off x="4700016" y="2651760"/>
            <a:ext cx="3035808" cy="1691640"/>
          </a:xfrm>
          <a:prstGeom prst="rect">
            <a:avLst/>
          </a:prstGeom>
          <a:noFill/>
          <a:ln/>
        </p:spPr>
        <p:txBody>
          <a:bodyPr wrap="square" lIns="0" tIns="0" rIns="0" bIns="0" rtlCol="0" anchor="t"/>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With the support fixed, each atom is refit from a rank-one SVD of the restricted error matrix E — the error present when atom k is absent, taken only over the signals that already use it.</a:t>
            </a:r>
            <a:endParaRPr lang="en-US" sz="1200" dirty="0"/>
          </a:p>
        </p:txBody>
      </p:sp>
      <p:sp>
        <p:nvSpPr>
          <p:cNvPr id="15" name="Text 13"/>
          <p:cNvSpPr/>
          <p:nvPr/>
        </p:nvSpPr>
        <p:spPr>
          <a:xfrm>
            <a:off x="8028432" y="2788920"/>
            <a:ext cx="274320" cy="365760"/>
          </a:xfrm>
          <a:prstGeom prst="rect">
            <a:avLst/>
          </a:prstGeom>
          <a:noFill/>
          <a:ln/>
        </p:spPr>
        <p:txBody>
          <a:bodyPr wrap="square" lIns="0" tIns="0" rIns="0" bIns="0" rtlCol="0" anchor="ctr"/>
          <a:lstStyle/>
          <a:p>
            <a:pPr algn="ctr" indent="0" marL="0">
              <a:buNone/>
            </a:pPr>
            <a:r>
              <a:rPr lang="en-US" sz="2000" b="1" dirty="0">
                <a:solidFill>
                  <a:srgbClr val="DCDFEC"/>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8302752" y="1600200"/>
            <a:ext cx="3584448" cy="2880360"/>
          </a:xfrm>
          <a:prstGeom prst="roundRect">
            <a:avLst>
              <a:gd name="adj" fmla="val 1587"/>
            </a:avLst>
          </a:prstGeom>
          <a:solidFill>
            <a:srgbClr val="FFFFFF"/>
          </a:solidFill>
          <a:ln w="9525">
            <a:solidFill>
              <a:srgbClr val="DCDFEC"/>
            </a:solidFill>
            <a:prstDash val="solid"/>
          </a:ln>
        </p:spPr>
      </p:sp>
      <p:sp>
        <p:nvSpPr>
          <p:cNvPr id="17" name="Text 15"/>
          <p:cNvSpPr/>
          <p:nvPr/>
        </p:nvSpPr>
        <p:spPr>
          <a:xfrm>
            <a:off x="8577072" y="1783080"/>
            <a:ext cx="914400" cy="457200"/>
          </a:xfrm>
          <a:prstGeom prst="rect">
            <a:avLst/>
          </a:prstGeom>
          <a:noFill/>
          <a:ln/>
        </p:spPr>
        <p:txBody>
          <a:bodyPr wrap="square" lIns="0" tIns="0" rIns="0" bIns="0" rtlCol="0" anchor="ctr"/>
          <a:lstStyle/>
          <a:p>
            <a:pPr indent="0" marL="0">
              <a:buNone/>
            </a:pPr>
            <a:r>
              <a:rPr lang="en-US" sz="2600" b="1" dirty="0">
                <a:solidFill>
                  <a:srgbClr val="E8A13A"/>
                </a:solidFill>
                <a:latin typeface="Georgia" pitchFamily="34" charset="0"/>
                <a:ea typeface="Georgia" pitchFamily="34" charset="-122"/>
                <a:cs typeface="Georgia" pitchFamily="34" charset="-120"/>
              </a:rPr>
              <a:t>03</a:t>
            </a:r>
            <a:endParaRPr lang="en-US" sz="2600" dirty="0"/>
          </a:p>
        </p:txBody>
      </p:sp>
      <p:sp>
        <p:nvSpPr>
          <p:cNvPr id="18" name="Text 16"/>
          <p:cNvSpPr/>
          <p:nvPr/>
        </p:nvSpPr>
        <p:spPr>
          <a:xfrm>
            <a:off x="8577072" y="2267712"/>
            <a:ext cx="3017520" cy="320040"/>
          </a:xfrm>
          <a:prstGeom prst="rect">
            <a:avLst/>
          </a:prstGeom>
          <a:noFill/>
          <a:ln/>
        </p:spPr>
        <p:txBody>
          <a:bodyPr wrap="square" lIns="0" tIns="0" rIns="0" bIns="0" rtlCol="0" anchor="ctr"/>
          <a:lstStyle/>
          <a:p>
            <a:pPr indent="0" marL="0">
              <a:buNone/>
            </a:pPr>
            <a:r>
              <a:rPr lang="en-US" sz="1800" b="1" dirty="0">
                <a:solidFill>
                  <a:srgbClr val="101534"/>
                </a:solidFill>
                <a:latin typeface="Georgia" pitchFamily="34" charset="0"/>
                <a:ea typeface="Georgia" pitchFamily="34" charset="-122"/>
                <a:cs typeface="Georgia" pitchFamily="34" charset="-120"/>
              </a:rPr>
              <a:t>Alternate</a:t>
            </a:r>
            <a:endParaRPr lang="en-US" sz="1800" dirty="0"/>
          </a:p>
        </p:txBody>
      </p:sp>
      <p:sp>
        <p:nvSpPr>
          <p:cNvPr id="19" name="Text 17"/>
          <p:cNvSpPr/>
          <p:nvPr/>
        </p:nvSpPr>
        <p:spPr>
          <a:xfrm>
            <a:off x="8577072" y="2651760"/>
            <a:ext cx="3035808" cy="1691640"/>
          </a:xfrm>
          <a:prstGeom prst="rect">
            <a:avLst/>
          </a:prstGeom>
          <a:noFill/>
          <a:ln/>
        </p:spPr>
        <p:txBody>
          <a:bodyPr wrap="square" lIns="0" tIns="0" rIns="0" bIns="0" rtlCol="0" anchor="t"/>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The two steps repeat until reconstruction error stops falling. Restricting to Ω is what keeps the atom update and the sparsity pattern consistent across iterations.</a:t>
            </a:r>
            <a:endParaRPr lang="en-US" sz="1200" dirty="0"/>
          </a:p>
        </p:txBody>
      </p:sp>
      <p:sp>
        <p:nvSpPr>
          <p:cNvPr id="20" name="Shape 18"/>
          <p:cNvSpPr/>
          <p:nvPr/>
        </p:nvSpPr>
        <p:spPr>
          <a:xfrm>
            <a:off x="548640" y="4709160"/>
            <a:ext cx="11091672" cy="1234440"/>
          </a:xfrm>
          <a:prstGeom prst="roundRect">
            <a:avLst>
              <a:gd name="adj" fmla="val 3704"/>
            </a:avLst>
          </a:prstGeom>
          <a:solidFill>
            <a:srgbClr val="101534"/>
          </a:solidFill>
          <a:ln w="9525">
            <a:solidFill>
              <a:srgbClr val="DCDFEC"/>
            </a:solidFill>
            <a:prstDash val="solid"/>
          </a:ln>
        </p:spPr>
      </p:sp>
      <p:sp>
        <p:nvSpPr>
          <p:cNvPr id="21" name="Text 19"/>
          <p:cNvSpPr/>
          <p:nvPr/>
        </p:nvSpPr>
        <p:spPr>
          <a:xfrm>
            <a:off x="868680" y="4846320"/>
            <a:ext cx="4206240" cy="457200"/>
          </a:xfrm>
          <a:prstGeom prst="rect">
            <a:avLst/>
          </a:prstGeom>
          <a:noFill/>
          <a:ln/>
        </p:spPr>
        <p:txBody>
          <a:bodyPr wrap="square" lIns="0" tIns="0" rIns="0" bIns="0" rtlCol="0" anchor="ctr"/>
          <a:lstStyle/>
          <a:p>
            <a:pPr indent="0" marL="0">
              <a:buNone/>
            </a:pPr>
            <a:r>
              <a:rPr lang="en-US" sz="1900" b="1" i="1" dirty="0">
                <a:solidFill>
                  <a:srgbClr val="E8A13A"/>
                </a:solidFill>
                <a:latin typeface="Georgia" pitchFamily="34" charset="0"/>
                <a:ea typeface="Georgia" pitchFamily="34" charset="-122"/>
                <a:cs typeface="Georgia" pitchFamily="34" charset="-120"/>
              </a:rPr>
              <a:t>E  =  Y|Ω  −  D X|Ω  +  dₖ xₖᵀ</a:t>
            </a:r>
            <a:endParaRPr lang="en-US" sz="1900" dirty="0"/>
          </a:p>
        </p:txBody>
      </p:sp>
      <p:sp>
        <p:nvSpPr>
          <p:cNvPr id="22" name="Text 20"/>
          <p:cNvSpPr/>
          <p:nvPr/>
        </p:nvSpPr>
        <p:spPr>
          <a:xfrm>
            <a:off x="5303520" y="4846320"/>
            <a:ext cx="6035040" cy="914400"/>
          </a:xfrm>
          <a:prstGeom prst="rect">
            <a:avLst/>
          </a:prstGeom>
          <a:noFill/>
          <a:ln/>
        </p:spPr>
        <p:txBody>
          <a:bodyPr wrap="square" lIns="0" tIns="0" rIns="0" bIns="0" rtlCol="0" anchor="ctr"/>
          <a:lstStyle/>
          <a:p>
            <a:pPr indent="0" marL="0">
              <a:lnSpc>
                <a:spcPts val="1800"/>
              </a:lnSpc>
              <a:buNone/>
            </a:pPr>
            <a:r>
              <a:rPr lang="en-US" sz="1250" dirty="0">
                <a:solidFill>
                  <a:srgbClr val="CFD3E6"/>
                </a:solidFill>
                <a:latin typeface="Arial" pitchFamily="34" charset="0"/>
                <a:ea typeface="Arial" pitchFamily="34" charset="-122"/>
                <a:cs typeface="Arial" pitchFamily="34" charset="-120"/>
              </a:rPr>
              <a:t>The final term is easy to misread as adding error — in fact it un-subtracts atom k, leaving exactly the gap a new atom must fill: not the error left after atom k has worked, but the error present when atom k is absent.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THE PROJECTION VIEW</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Where a decomposition can enter</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7</a:t>
            </a:r>
            <a:endParaRPr lang="en-US" sz="1200" dirty="0"/>
          </a:p>
        </p:txBody>
      </p:sp>
      <p:sp>
        <p:nvSpPr>
          <p:cNvPr id="6" name="Shape 4"/>
          <p:cNvSpPr/>
          <p:nvPr/>
        </p:nvSpPr>
        <p:spPr>
          <a:xfrm>
            <a:off x="548640" y="1481328"/>
            <a:ext cx="5440680" cy="4160520"/>
          </a:xfrm>
          <a:prstGeom prst="roundRect">
            <a:avLst>
              <a:gd name="adj" fmla="val 1099"/>
            </a:avLst>
          </a:prstGeom>
          <a:solidFill>
            <a:srgbClr val="FFFFFF"/>
          </a:solidFill>
          <a:ln w="9525">
            <a:solidFill>
              <a:srgbClr val="DCDFEC"/>
            </a:solidFill>
            <a:prstDash val="solid"/>
          </a:ln>
        </p:spPr>
      </p:sp>
      <p:sp>
        <p:nvSpPr>
          <p:cNvPr id="7" name="Text 5"/>
          <p:cNvSpPr/>
          <p:nvPr/>
        </p:nvSpPr>
        <p:spPr>
          <a:xfrm>
            <a:off x="868680" y="1737360"/>
            <a:ext cx="4754880" cy="347472"/>
          </a:xfrm>
          <a:prstGeom prst="rect">
            <a:avLst/>
          </a:prstGeom>
          <a:noFill/>
          <a:ln/>
        </p:spPr>
        <p:txBody>
          <a:bodyPr wrap="square" lIns="0" tIns="0" rIns="0" bIns="0" rtlCol="0" anchor="ctr"/>
          <a:lstStyle/>
          <a:p>
            <a:pPr indent="0" marL="0">
              <a:buNone/>
            </a:pPr>
            <a:r>
              <a:rPr lang="en-US" sz="2100" b="1" dirty="0">
                <a:solidFill>
                  <a:srgbClr val="101534"/>
                </a:solidFill>
                <a:latin typeface="Georgia" pitchFamily="34" charset="0"/>
                <a:ea typeface="Georgia" pitchFamily="34" charset="-122"/>
                <a:cs typeface="Georgia" pitchFamily="34" charset="-120"/>
              </a:rPr>
              <a:t>Structure on each atom</a:t>
            </a:r>
            <a:endParaRPr lang="en-US" sz="2100" dirty="0"/>
          </a:p>
        </p:txBody>
      </p:sp>
      <p:sp>
        <p:nvSpPr>
          <p:cNvPr id="8" name="Text 6"/>
          <p:cNvSpPr/>
          <p:nvPr/>
        </p:nvSpPr>
        <p:spPr>
          <a:xfrm>
            <a:off x="868680" y="2103120"/>
            <a:ext cx="4754880" cy="274320"/>
          </a:xfrm>
          <a:prstGeom prst="rect">
            <a:avLst/>
          </a:prstGeom>
          <a:noFill/>
          <a:ln/>
        </p:spPr>
        <p:txBody>
          <a:bodyPr wrap="square" lIns="0" tIns="0" rIns="0" bIns="0" rtlCol="0" anchor="ctr"/>
          <a:lstStyle/>
          <a:p>
            <a:pPr indent="0" marL="0">
              <a:buNone/>
            </a:pPr>
            <a:r>
              <a:rPr lang="en-US" sz="1200" b="1" spc="100" kern="0" dirty="0">
                <a:solidFill>
                  <a:srgbClr val="2E9E8F"/>
                </a:solidFill>
                <a:latin typeface="Arial" pitchFamily="34" charset="0"/>
                <a:ea typeface="Arial" pitchFamily="34" charset="-122"/>
                <a:cs typeface="Arial" pitchFamily="34" charset="-120"/>
              </a:rPr>
              <a:t>CP · TT · TR · BTD</a:t>
            </a:r>
            <a:endParaRPr lang="en-US" sz="1200" dirty="0"/>
          </a:p>
        </p:txBody>
      </p:sp>
      <p:sp>
        <p:nvSpPr>
          <p:cNvPr id="9" name="Text 7"/>
          <p:cNvSpPr/>
          <p:nvPr/>
        </p:nvSpPr>
        <p:spPr>
          <a:xfrm>
            <a:off x="868680" y="2487168"/>
            <a:ext cx="4800600" cy="1417320"/>
          </a:xfrm>
          <a:prstGeom prst="rect">
            <a:avLst/>
          </a:prstGeom>
          <a:noFill/>
          <a:ln/>
        </p:spPr>
        <p:txBody>
          <a:bodyPr wrap="square" lIns="0" tIns="0" rIns="0" bIns="0" rtlCol="0" anchor="ctr"/>
          <a:lstStyle/>
          <a:p>
            <a:pPr indent="0" marL="0">
              <a:lnSpc>
                <a:spcPts val="1900"/>
              </a:lnSpc>
              <a:buNone/>
            </a:pPr>
            <a:r>
              <a:rPr lang="en-US" sz="1300" dirty="0">
                <a:solidFill>
                  <a:srgbClr val="5A6178"/>
                </a:solidFill>
                <a:latin typeface="Arial" pitchFamily="34" charset="0"/>
                <a:ea typeface="Arial" pitchFamily="34" charset="-122"/>
                <a:cs typeface="Arial" pitchFamily="34" charset="-120"/>
              </a:rPr>
              <a:t>Each atom is itself a low-parameter tensor. Atoms are independent, so the constraint is enforced atom-by-atom: take the optimal unconstrained atom from the K-SVD rank-one step and project — “snap” — it onto the decomposition’s manifold. Four of the six methods differ by exactly this one line.</a:t>
            </a:r>
            <a:endParaRPr lang="en-US" sz="1300" dirty="0"/>
          </a:p>
        </p:txBody>
      </p:sp>
      <p:sp>
        <p:nvSpPr>
          <p:cNvPr id="10" name="Shape 8"/>
          <p:cNvSpPr/>
          <p:nvPr/>
        </p:nvSpPr>
        <p:spPr>
          <a:xfrm>
            <a:off x="868680" y="4041648"/>
            <a:ext cx="4800600" cy="1234440"/>
          </a:xfrm>
          <a:prstGeom prst="roundRect">
            <a:avLst>
              <a:gd name="adj" fmla="val 3704"/>
            </a:avLst>
          </a:prstGeom>
          <a:solidFill>
            <a:srgbClr val="F3F4F9"/>
          </a:solidFill>
          <a:ln w="9525">
            <a:solidFill>
              <a:srgbClr val="DCDFEC"/>
            </a:solidFill>
            <a:prstDash val="solid"/>
          </a:ln>
        </p:spPr>
      </p:sp>
      <p:sp>
        <p:nvSpPr>
          <p:cNvPr id="11" name="Text 9"/>
          <p:cNvSpPr/>
          <p:nvPr/>
        </p:nvSpPr>
        <p:spPr>
          <a:xfrm>
            <a:off x="1097280" y="4187952"/>
            <a:ext cx="4389120" cy="274320"/>
          </a:xfrm>
          <a:prstGeom prst="rect">
            <a:avLst/>
          </a:prstGeom>
          <a:noFill/>
          <a:ln/>
        </p:spPr>
        <p:txBody>
          <a:bodyPr wrap="square" lIns="0" tIns="0" rIns="0" bIns="0" rtlCol="0" anchor="ctr"/>
          <a:lstStyle/>
          <a:p>
            <a:pPr indent="0" marL="0">
              <a:buNone/>
            </a:pPr>
            <a:r>
              <a:rPr lang="en-US" sz="1100" b="1" spc="100" kern="0" dirty="0">
                <a:solidFill>
                  <a:srgbClr val="2B3A8F"/>
                </a:solidFill>
                <a:latin typeface="Arial" pitchFamily="34" charset="0"/>
                <a:ea typeface="Arial" pitchFamily="34" charset="-122"/>
                <a:cs typeface="Arial" pitchFamily="34" charset="-120"/>
              </a:rPr>
              <a:t>CP ⇒ Khatri–Rao</a:t>
            </a:r>
            <a:endParaRPr lang="en-US" sz="1100" dirty="0"/>
          </a:p>
        </p:txBody>
      </p:sp>
      <p:sp>
        <p:nvSpPr>
          <p:cNvPr id="12" name="Text 10"/>
          <p:cNvSpPr/>
          <p:nvPr/>
        </p:nvSpPr>
        <p:spPr>
          <a:xfrm>
            <a:off x="1097280" y="4462272"/>
            <a:ext cx="4389120" cy="320040"/>
          </a:xfrm>
          <a:prstGeom prst="rect">
            <a:avLst/>
          </a:prstGeom>
          <a:noFill/>
          <a:ln/>
        </p:spPr>
        <p:txBody>
          <a:bodyPr wrap="square" lIns="0" tIns="0" rIns="0" bIns="0" rtlCol="0" anchor="ctr"/>
          <a:lstStyle/>
          <a:p>
            <a:pPr indent="0" marL="0">
              <a:buNone/>
            </a:pPr>
            <a:r>
              <a:rPr lang="en-US" sz="1700" b="1" i="1" dirty="0">
                <a:solidFill>
                  <a:srgbClr val="101534"/>
                </a:solidFill>
                <a:latin typeface="Georgia" pitchFamily="34" charset="0"/>
                <a:ea typeface="Georgia" pitchFamily="34" charset="-122"/>
                <a:cs typeface="Georgia" pitchFamily="34" charset="-120"/>
              </a:rPr>
              <a:t>D = A ⊙ B ⊙ C</a:t>
            </a:r>
            <a:endParaRPr lang="en-US" sz="1700" dirty="0"/>
          </a:p>
        </p:txBody>
      </p:sp>
      <p:sp>
        <p:nvSpPr>
          <p:cNvPr id="13" name="Text 11"/>
          <p:cNvSpPr/>
          <p:nvPr/>
        </p:nvSpPr>
        <p:spPr>
          <a:xfrm>
            <a:off x="1097280" y="4791456"/>
            <a:ext cx="4389120" cy="274320"/>
          </a:xfrm>
          <a:prstGeom prst="rect">
            <a:avLst/>
          </a:prstGeom>
          <a:noFill/>
          <a:ln/>
        </p:spPr>
        <p:txBody>
          <a:bodyPr wrap="square" lIns="0" tIns="0" rIns="0" bIns="0" rtlCol="0" anchor="ctr"/>
          <a:lstStyle/>
          <a:p>
            <a:pPr indent="0" marL="0">
              <a:buNone/>
            </a:pPr>
            <a:r>
              <a:rPr lang="en-US" sz="1150" dirty="0">
                <a:solidFill>
                  <a:srgbClr val="5A6178"/>
                </a:solidFill>
                <a:latin typeface="Arial" pitchFamily="34" charset="0"/>
                <a:ea typeface="Arial" pitchFamily="34" charset="-122"/>
                <a:cs typeface="Arial" pitchFamily="34" charset="-120"/>
              </a:rPr>
              <a:t>Storage falls from n₁n₂n₃K to (n₁+n₂+n₃)K.</a:t>
            </a:r>
            <a:endParaRPr lang="en-US" sz="1150" dirty="0"/>
          </a:p>
        </p:txBody>
      </p:sp>
      <p:sp>
        <p:nvSpPr>
          <p:cNvPr id="14" name="Shape 12"/>
          <p:cNvSpPr/>
          <p:nvPr/>
        </p:nvSpPr>
        <p:spPr>
          <a:xfrm>
            <a:off x="6199632" y="1481328"/>
            <a:ext cx="5440680" cy="4160520"/>
          </a:xfrm>
          <a:prstGeom prst="roundRect">
            <a:avLst>
              <a:gd name="adj" fmla="val 1099"/>
            </a:avLst>
          </a:prstGeom>
          <a:solidFill>
            <a:srgbClr val="FFFFFF"/>
          </a:solidFill>
          <a:ln w="9525">
            <a:solidFill>
              <a:srgbClr val="DCDFEC"/>
            </a:solidFill>
            <a:prstDash val="solid"/>
          </a:ln>
        </p:spPr>
      </p:sp>
      <p:sp>
        <p:nvSpPr>
          <p:cNvPr id="15" name="Text 13"/>
          <p:cNvSpPr/>
          <p:nvPr/>
        </p:nvSpPr>
        <p:spPr>
          <a:xfrm>
            <a:off x="6519672" y="1737360"/>
            <a:ext cx="4846320" cy="347472"/>
          </a:xfrm>
          <a:prstGeom prst="rect">
            <a:avLst/>
          </a:prstGeom>
          <a:noFill/>
          <a:ln/>
        </p:spPr>
        <p:txBody>
          <a:bodyPr wrap="square" lIns="0" tIns="0" rIns="0" bIns="0" rtlCol="0" anchor="ctr"/>
          <a:lstStyle/>
          <a:p>
            <a:pPr indent="0" marL="0">
              <a:buNone/>
            </a:pPr>
            <a:r>
              <a:rPr lang="en-US" sz="2100" b="1" dirty="0">
                <a:solidFill>
                  <a:srgbClr val="101534"/>
                </a:solidFill>
                <a:latin typeface="Georgia" pitchFamily="34" charset="0"/>
                <a:ea typeface="Georgia" pitchFamily="34" charset="-122"/>
                <a:cs typeface="Georgia" pitchFamily="34" charset="-120"/>
              </a:rPr>
              <a:t>Structure on the whole dictionary</a:t>
            </a:r>
            <a:endParaRPr lang="en-US" sz="2100" dirty="0"/>
          </a:p>
        </p:txBody>
      </p:sp>
      <p:sp>
        <p:nvSpPr>
          <p:cNvPr id="16" name="Text 14"/>
          <p:cNvSpPr/>
          <p:nvPr/>
        </p:nvSpPr>
        <p:spPr>
          <a:xfrm>
            <a:off x="6519672" y="2103120"/>
            <a:ext cx="4754880" cy="274320"/>
          </a:xfrm>
          <a:prstGeom prst="rect">
            <a:avLst/>
          </a:prstGeom>
          <a:noFill/>
          <a:ln/>
        </p:spPr>
        <p:txBody>
          <a:bodyPr wrap="square" lIns="0" tIns="0" rIns="0" bIns="0" rtlCol="0" anchor="ctr"/>
          <a:lstStyle/>
          <a:p>
            <a:pPr indent="0" marL="0">
              <a:buNone/>
            </a:pPr>
            <a:r>
              <a:rPr lang="en-US" sz="1200" b="1" spc="100" kern="0" dirty="0">
                <a:solidFill>
                  <a:srgbClr val="E8A13A"/>
                </a:solidFill>
                <a:latin typeface="Arial" pitchFamily="34" charset="0"/>
                <a:ea typeface="Arial" pitchFamily="34" charset="-122"/>
                <a:cs typeface="Arial" pitchFamily="34" charset="-120"/>
              </a:rPr>
              <a:t>TUCKER</a:t>
            </a:r>
            <a:endParaRPr lang="en-US" sz="1200" dirty="0"/>
          </a:p>
        </p:txBody>
      </p:sp>
      <p:sp>
        <p:nvSpPr>
          <p:cNvPr id="17" name="Text 15"/>
          <p:cNvSpPr/>
          <p:nvPr/>
        </p:nvSpPr>
        <p:spPr>
          <a:xfrm>
            <a:off x="6519672" y="2487168"/>
            <a:ext cx="4800600" cy="1417320"/>
          </a:xfrm>
          <a:prstGeom prst="rect">
            <a:avLst/>
          </a:prstGeom>
          <a:noFill/>
          <a:ln/>
        </p:spPr>
        <p:txBody>
          <a:bodyPr wrap="square" lIns="0" tIns="0" rIns="0" bIns="0" rtlCol="0" anchor="ctr"/>
          <a:lstStyle/>
          <a:p>
            <a:pPr indent="0" marL="0">
              <a:lnSpc>
                <a:spcPts val="1900"/>
              </a:lnSpc>
              <a:buNone/>
            </a:pPr>
            <a:r>
              <a:rPr lang="en-US" sz="1300" dirty="0">
                <a:solidFill>
                  <a:srgbClr val="5A6178"/>
                </a:solidFill>
                <a:latin typeface="Arial" pitchFamily="34" charset="0"/>
                <a:ea typeface="Arial" pitchFamily="34" charset="-122"/>
                <a:cs typeface="Arial" pitchFamily="34" charset="-120"/>
              </a:rPr>
              <a:t>Every atom is built from one shared set of per-mode vectors, so the constraint couples all atoms — there is no single atom to project. The update instead re-fits the shared mode factors by separable alternating least squares, each mode an exact closed-form solve.</a:t>
            </a:r>
            <a:endParaRPr lang="en-US" sz="1300" dirty="0"/>
          </a:p>
        </p:txBody>
      </p:sp>
      <p:sp>
        <p:nvSpPr>
          <p:cNvPr id="18" name="Shape 16"/>
          <p:cNvSpPr/>
          <p:nvPr/>
        </p:nvSpPr>
        <p:spPr>
          <a:xfrm>
            <a:off x="6519672" y="4041648"/>
            <a:ext cx="4800600" cy="1234440"/>
          </a:xfrm>
          <a:prstGeom prst="roundRect">
            <a:avLst>
              <a:gd name="adj" fmla="val 3704"/>
            </a:avLst>
          </a:prstGeom>
          <a:solidFill>
            <a:srgbClr val="F3F4F9"/>
          </a:solidFill>
          <a:ln w="9525">
            <a:solidFill>
              <a:srgbClr val="DCDFEC"/>
            </a:solidFill>
            <a:prstDash val="solid"/>
          </a:ln>
        </p:spPr>
      </p:sp>
      <p:sp>
        <p:nvSpPr>
          <p:cNvPr id="19" name="Text 17"/>
          <p:cNvSpPr/>
          <p:nvPr/>
        </p:nvSpPr>
        <p:spPr>
          <a:xfrm>
            <a:off x="6748272" y="4187952"/>
            <a:ext cx="4389120" cy="274320"/>
          </a:xfrm>
          <a:prstGeom prst="rect">
            <a:avLst/>
          </a:prstGeom>
          <a:noFill/>
          <a:ln/>
        </p:spPr>
        <p:txBody>
          <a:bodyPr wrap="square" lIns="0" tIns="0" rIns="0" bIns="0" rtlCol="0" anchor="ctr"/>
          <a:lstStyle/>
          <a:p>
            <a:pPr indent="0" marL="0">
              <a:buNone/>
            </a:pPr>
            <a:r>
              <a:rPr lang="en-US" sz="1100" b="1" spc="100" kern="0" dirty="0">
                <a:solidFill>
                  <a:srgbClr val="2B3A8F"/>
                </a:solidFill>
                <a:latin typeface="Arial" pitchFamily="34" charset="0"/>
                <a:ea typeface="Arial" pitchFamily="34" charset="-122"/>
                <a:cs typeface="Arial" pitchFamily="34" charset="-120"/>
              </a:rPr>
              <a:t>TUCKER ⇒ KRONECKER</a:t>
            </a:r>
            <a:endParaRPr lang="en-US" sz="1100" dirty="0"/>
          </a:p>
        </p:txBody>
      </p:sp>
      <p:sp>
        <p:nvSpPr>
          <p:cNvPr id="20" name="Text 18"/>
          <p:cNvSpPr/>
          <p:nvPr/>
        </p:nvSpPr>
        <p:spPr>
          <a:xfrm>
            <a:off x="6748272" y="4462272"/>
            <a:ext cx="4389120" cy="320040"/>
          </a:xfrm>
          <a:prstGeom prst="rect">
            <a:avLst/>
          </a:prstGeom>
          <a:noFill/>
          <a:ln/>
        </p:spPr>
        <p:txBody>
          <a:bodyPr wrap="square" lIns="0" tIns="0" rIns="0" bIns="0" rtlCol="0" anchor="ctr"/>
          <a:lstStyle/>
          <a:p>
            <a:pPr indent="0" marL="0">
              <a:buNone/>
            </a:pPr>
            <a:r>
              <a:rPr lang="en-US" sz="1700" b="1" i="1" dirty="0">
                <a:solidFill>
                  <a:srgbClr val="101534"/>
                </a:solidFill>
                <a:latin typeface="Georgia" pitchFamily="34" charset="0"/>
                <a:ea typeface="Georgia" pitchFamily="34" charset="-122"/>
                <a:cs typeface="Georgia" pitchFamily="34" charset="-120"/>
              </a:rPr>
              <a:t>D = U₃ ⊗ U₂ ⊗ U₁</a:t>
            </a:r>
            <a:endParaRPr lang="en-US" sz="1700" dirty="0"/>
          </a:p>
        </p:txBody>
      </p:sp>
      <p:sp>
        <p:nvSpPr>
          <p:cNvPr id="21" name="Text 19"/>
          <p:cNvSpPr/>
          <p:nvPr/>
        </p:nvSpPr>
        <p:spPr>
          <a:xfrm>
            <a:off x="6748272" y="4791456"/>
            <a:ext cx="4389120" cy="274320"/>
          </a:xfrm>
          <a:prstGeom prst="rect">
            <a:avLst/>
          </a:prstGeom>
          <a:noFill/>
          <a:ln/>
        </p:spPr>
        <p:txBody>
          <a:bodyPr wrap="square" lIns="0" tIns="0" rIns="0" bIns="0" rtlCol="0" anchor="ctr"/>
          <a:lstStyle/>
          <a:p>
            <a:pPr indent="0" marL="0">
              <a:buNone/>
            </a:pPr>
            <a:r>
              <a:rPr lang="en-US" sz="1150" dirty="0">
                <a:solidFill>
                  <a:srgbClr val="5A6178"/>
                </a:solidFill>
                <a:latin typeface="Arial" pitchFamily="34" charset="0"/>
                <a:ea typeface="Arial" pitchFamily="34" charset="-122"/>
                <a:cs typeface="Arial" pitchFamily="34" charset="-120"/>
              </a:rPr>
              <a:t>The core plays the role of the sparse code.</a:t>
            </a:r>
            <a:endParaRPr lang="en-US" sz="1150" dirty="0"/>
          </a:p>
        </p:txBody>
      </p:sp>
      <p:sp>
        <p:nvSpPr>
          <p:cNvPr id="22" name="Text 20"/>
          <p:cNvSpPr/>
          <p:nvPr/>
        </p:nvSpPr>
        <p:spPr>
          <a:xfrm>
            <a:off x="548640" y="5852160"/>
            <a:ext cx="11064240" cy="365760"/>
          </a:xfrm>
          <a:prstGeom prst="rect">
            <a:avLst/>
          </a:prstGeom>
          <a:noFill/>
          <a:ln/>
        </p:spPr>
        <p:txBody>
          <a:bodyPr wrap="square" lIns="0" tIns="0" rIns="0" bIns="0" rtlCol="0" anchor="ctr"/>
          <a:lstStyle/>
          <a:p>
            <a:pPr indent="0" marL="0">
              <a:buNone/>
            </a:pPr>
            <a:r>
              <a:rPr lang="en-US" sz="1300" i="1" dirty="0">
                <a:solidFill>
                  <a:srgbClr val="2B3A8F"/>
                </a:solidFill>
                <a:latin typeface="Arial" pitchFamily="34" charset="0"/>
                <a:ea typeface="Arial" pitchFamily="34" charset="-122"/>
                <a:cs typeface="Arial" pitchFamily="34" charset="-120"/>
              </a:rPr>
              <a:t>The Khatri–Rao is the column-matched Kronecker: CP keeps only matched triples, Tucker keeps all k₁k₂k₃ combinations.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PARAMETER ACCOUNTING</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What each format actually costs to store</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8</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7589520" cy="914400"/>
        </p:xfrm>
        <a:graphic>
          <a:graphicData uri="http://schemas.openxmlformats.org/drawingml/2006/table">
            <a:tbl>
              <a:tblPr/>
              <a:tblGrid>
                <a:gridCol w="2286000"/>
                <a:gridCol w="3291840"/>
                <a:gridCol w="2011680"/>
              </a:tblGrid>
              <a:tr h="384048">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Method</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Dictionary form</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r" indent="0" marL="0">
                        <a:buNone/>
                      </a:pPr>
                      <a:r>
                        <a:rPr lang="en-US" sz="1150" b="1" dirty="0">
                          <a:solidFill>
                            <a:srgbClr val="FFFFFF"/>
                          </a:solidFill>
                          <a:latin typeface="Arial" pitchFamily="34" charset="0"/>
                          <a:ea typeface="Arial" pitchFamily="34" charset="-122"/>
                          <a:cs typeface="Arial" pitchFamily="34" charset="-120"/>
                        </a:rPr>
                        <a:t>Stored parameters</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r>
              <a:tr h="384048">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Vectorized</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A6178"/>
                          </a:solidFill>
                          <a:latin typeface="Arial" pitchFamily="34" charset="0"/>
                          <a:ea typeface="Arial" pitchFamily="34" charset="-122"/>
                          <a:cs typeface="Arial" pitchFamily="34" charset="-120"/>
                        </a:rPr>
                        <a:t>free atoms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K ∏ᵢ nᵢ</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CP  (rank 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l" indent="0" marL="0">
                        <a:buNone/>
                      </a:pPr>
                      <a:r>
                        <a:rPr lang="en-US" sz="1200" dirty="0">
                          <a:solidFill>
                            <a:srgbClr val="5A6178"/>
                          </a:solidFill>
                          <a:latin typeface="Arial" pitchFamily="34" charset="0"/>
                          <a:ea typeface="Arial" pitchFamily="34" charset="-122"/>
                          <a:cs typeface="Arial" pitchFamily="34" charset="-120"/>
                        </a:rPr>
                        <a:t>D = A ⊙ B ⊙ C   (Khatri–Rao)</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K R 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r h="384048">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Tucker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A6178"/>
                          </a:solidFill>
                          <a:latin typeface="Arial" pitchFamily="34" charset="0"/>
                          <a:ea typeface="Arial" pitchFamily="34" charset="-122"/>
                          <a:cs typeface="Arial" pitchFamily="34" charset="-120"/>
                        </a:rPr>
                        <a:t>D = Uₙ ⊗ ⋯ ⊗ U₁   (Kronecker)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Σᵢ nᵢkᵢ</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TT  (rank r, N = 3)</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l" indent="0" marL="0">
                        <a:buNone/>
                      </a:pPr>
                      <a:r>
                        <a:rPr lang="en-US" sz="1200" dirty="0">
                          <a:solidFill>
                            <a:srgbClr val="5A6178"/>
                          </a:solidFill>
                          <a:latin typeface="Arial" pitchFamily="34" charset="0"/>
                          <a:ea typeface="Arial" pitchFamily="34" charset="-122"/>
                          <a:cs typeface="Arial" pitchFamily="34" charset="-120"/>
                        </a:rPr>
                        <a:t>chain of cores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K [ r(n₁+n₃) + r²n₂ ]</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r h="384048">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TR  (rank 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A6178"/>
                          </a:solidFill>
                          <a:latin typeface="Arial" pitchFamily="34" charset="0"/>
                          <a:ea typeface="Arial" pitchFamily="34" charset="-122"/>
                          <a:cs typeface="Arial" pitchFamily="34" charset="-120"/>
                        </a:rPr>
                        <a:t>ring of cores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K r² 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BTD  (L, b blocks)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l" indent="0" marL="0">
                        <a:buNone/>
                      </a:pPr>
                      <a:r>
                        <a:rPr lang="en-US" sz="1200" dirty="0">
                          <a:solidFill>
                            <a:srgbClr val="5A6178"/>
                          </a:solidFill>
                          <a:latin typeface="Arial" pitchFamily="34" charset="0"/>
                          <a:ea typeface="Arial" pitchFamily="34" charset="-122"/>
                          <a:cs typeface="Arial" pitchFamily="34" charset="-120"/>
                        </a:rPr>
                        <a:t>sum of Tucker blocks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K b (Lᴺ + L 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bl>
          </a:graphicData>
        </a:graphic>
      </p:graphicFrame>
      <p:sp>
        <p:nvSpPr>
          <p:cNvPr id="7" name="Shape 4"/>
          <p:cNvSpPr/>
          <p:nvPr/>
        </p:nvSpPr>
        <p:spPr>
          <a:xfrm>
            <a:off x="8412480" y="1627632"/>
            <a:ext cx="3227832" cy="3108960"/>
          </a:xfrm>
          <a:prstGeom prst="roundRect">
            <a:avLst>
              <a:gd name="adj" fmla="val 1471"/>
            </a:avLst>
          </a:prstGeom>
          <a:solidFill>
            <a:srgbClr val="F3F4F9"/>
          </a:solidFill>
          <a:ln w="9525">
            <a:solidFill>
              <a:srgbClr val="DCDFEC"/>
            </a:solidFill>
            <a:prstDash val="solid"/>
          </a:ln>
        </p:spPr>
      </p:sp>
      <p:sp>
        <p:nvSpPr>
          <p:cNvPr id="8" name="Text 5"/>
          <p:cNvSpPr/>
          <p:nvPr/>
        </p:nvSpPr>
        <p:spPr>
          <a:xfrm>
            <a:off x="8686800" y="1828800"/>
            <a:ext cx="2743200" cy="320040"/>
          </a:xfrm>
          <a:prstGeom prst="rect">
            <a:avLst/>
          </a:prstGeom>
          <a:noFill/>
          <a:ln/>
        </p:spPr>
        <p:txBody>
          <a:bodyPr wrap="square" lIns="0" tIns="0" rIns="0" bIns="0" rtlCol="0" anchor="ctr"/>
          <a:lstStyle/>
          <a:p>
            <a:pPr indent="0" marL="0">
              <a:buNone/>
            </a:pPr>
            <a:r>
              <a:rPr lang="en-US" sz="1700" b="1" dirty="0">
                <a:solidFill>
                  <a:srgbClr val="101534"/>
                </a:solidFill>
                <a:latin typeface="Georgia" pitchFamily="34" charset="0"/>
                <a:ea typeface="Georgia" pitchFamily="34" charset="-122"/>
                <a:cs typeface="Georgia" pitchFamily="34" charset="-120"/>
              </a:rPr>
              <a:t>Reading the table</a:t>
            </a:r>
            <a:endParaRPr lang="en-US" sz="1700" dirty="0"/>
          </a:p>
        </p:txBody>
      </p:sp>
      <p:sp>
        <p:nvSpPr>
          <p:cNvPr id="9" name="Text 6"/>
          <p:cNvSpPr/>
          <p:nvPr/>
        </p:nvSpPr>
        <p:spPr>
          <a:xfrm>
            <a:off x="8686800" y="2212848"/>
            <a:ext cx="2743200" cy="237744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5A6178"/>
                </a:solidFill>
                <a:latin typeface="Arial" pitchFamily="34" charset="0"/>
                <a:ea typeface="Arial" pitchFamily="34" charset="-122"/>
                <a:cs typeface="Arial" pitchFamily="34" charset="-120"/>
              </a:rPr>
              <a:t>S = Σᵢ nᵢ; the atom shape is (n₁, …, nₙ).</a:t>
            </a:r>
            <a:endParaRPr lang="en-US" sz="1150" dirty="0"/>
          </a:p>
          <a:p>
            <a:pPr marL="177800" indent="-177800">
              <a:spcAft>
                <a:spcPts val="700"/>
              </a:spcAft>
              <a:buSzPct val="100000"/>
              <a:buChar char="•"/>
            </a:pPr>
            <a:r>
              <a:rPr lang="en-US" sz="1150" dirty="0">
                <a:solidFill>
                  <a:srgbClr val="5A6178"/>
                </a:solidFill>
                <a:latin typeface="Arial" pitchFamily="34" charset="0"/>
                <a:ea typeface="Arial" pitchFamily="34" charset="-122"/>
                <a:cs typeface="Arial" pitchFamily="34" charset="-120"/>
              </a:rPr>
              <a:t>The dictionary count is the storage budget we compare on.</a:t>
            </a:r>
            <a:endParaRPr lang="en-US" sz="1150" dirty="0"/>
          </a:p>
          <a:p>
            <a:pPr marL="177800" indent="-177800">
              <a:spcAft>
                <a:spcPts val="700"/>
              </a:spcAft>
              <a:buSzPct val="100000"/>
              <a:buChar char="•"/>
            </a:pPr>
            <a:r>
              <a:rPr lang="en-US" sz="1150" dirty="0">
                <a:solidFill>
                  <a:srgbClr val="5A6178"/>
                </a:solidFill>
                <a:latin typeface="Arial" pitchFamily="34" charset="0"/>
                <a:ea typeface="Arial" pitchFamily="34" charset="-122"/>
                <a:cs typeface="Arial" pitchFamily="34" charset="-120"/>
              </a:rPr>
              <a:t>The sparse code (or Tucker core) is per-sample and excluded from every method equally.</a:t>
            </a:r>
            <a:endParaRPr lang="en-US" sz="1150" dirty="0"/>
          </a:p>
          <a:p>
            <a:pPr marL="177800" indent="-177800">
              <a:spcAft>
                <a:spcPts val="700"/>
              </a:spcAft>
              <a:buSzPct val="100000"/>
              <a:buChar char="•"/>
            </a:pPr>
            <a:r>
              <a:rPr lang="en-US" sz="1150" dirty="0">
                <a:solidFill>
                  <a:srgbClr val="5A6178"/>
                </a:solidFill>
                <a:latin typeface="Arial" pitchFamily="34" charset="0"/>
                <a:ea typeface="Arial" pitchFamily="34" charset="-122"/>
                <a:cs typeface="Arial" pitchFamily="34" charset="-120"/>
              </a:rPr>
              <a:t>For Tucker the atom count is ∏ᵢ kᵢ — only the mode factors are stored.</a:t>
            </a:r>
            <a:endParaRPr lang="en-US" sz="1150" dirty="0"/>
          </a:p>
        </p:txBody>
      </p:sp>
      <p:sp>
        <p:nvSpPr>
          <p:cNvPr id="10" name="Text 7"/>
          <p:cNvSpPr/>
          <p:nvPr/>
        </p:nvSpPr>
        <p:spPr>
          <a:xfrm>
            <a:off x="548640" y="5029200"/>
            <a:ext cx="11064240" cy="411480"/>
          </a:xfrm>
          <a:prstGeom prst="rect">
            <a:avLst/>
          </a:prstGeom>
          <a:noFill/>
          <a:ln/>
        </p:spPr>
        <p:txBody>
          <a:bodyPr wrap="square" lIns="0" tIns="0" rIns="0" bIns="0" rtlCol="0" anchor="ctr"/>
          <a:lstStyle/>
          <a:p>
            <a:pPr indent="0" marL="0">
              <a:buNone/>
            </a:pPr>
            <a:r>
              <a:rPr lang="en-US" sz="1350" i="1" dirty="0">
                <a:solidFill>
                  <a:srgbClr val="2B3A8F"/>
                </a:solidFill>
                <a:latin typeface="Arial" pitchFamily="34" charset="0"/>
                <a:ea typeface="Arial" pitchFamily="34" charset="-122"/>
                <a:cs typeface="Arial" pitchFamily="34" charset="-120"/>
              </a:rPr>
              <a:t>Every count is multiplicative in K except Tucker's, which is additive across modes — that single asymmetry drives most of what follows.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EFFICIENCY RANKING</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Three layers, from objective to opinionated</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9</a:t>
            </a:r>
            <a:endParaRPr lang="en-US" sz="1200" dirty="0"/>
          </a:p>
        </p:txBody>
      </p:sp>
      <p:sp>
        <p:nvSpPr>
          <p:cNvPr id="6" name="Shape 4"/>
          <p:cNvSpPr/>
          <p:nvPr/>
        </p:nvSpPr>
        <p:spPr>
          <a:xfrm>
            <a:off x="548640" y="1554480"/>
            <a:ext cx="5943600" cy="1298448"/>
          </a:xfrm>
          <a:prstGeom prst="roundRect">
            <a:avLst>
              <a:gd name="adj" fmla="val 3521"/>
            </a:avLst>
          </a:prstGeom>
          <a:solidFill>
            <a:srgbClr val="FFFFFF"/>
          </a:solidFill>
          <a:ln w="9525">
            <a:solidFill>
              <a:srgbClr val="DCDFEC"/>
            </a:solidFill>
            <a:prstDash val="solid"/>
          </a:ln>
        </p:spPr>
      </p:sp>
      <p:sp>
        <p:nvSpPr>
          <p:cNvPr id="7" name="Text 5"/>
          <p:cNvSpPr/>
          <p:nvPr/>
        </p:nvSpPr>
        <p:spPr>
          <a:xfrm>
            <a:off x="822960" y="1700784"/>
            <a:ext cx="1280160" cy="228600"/>
          </a:xfrm>
          <a:prstGeom prst="rect">
            <a:avLst/>
          </a:prstGeom>
          <a:noFill/>
          <a:ln/>
        </p:spPr>
        <p:txBody>
          <a:bodyPr wrap="square" lIns="0" tIns="0" rIns="0" bIns="0" rtlCol="0" anchor="ctr"/>
          <a:lstStyle/>
          <a:p>
            <a:pPr indent="0" marL="0">
              <a:buNone/>
            </a:pPr>
            <a:r>
              <a:rPr lang="en-US" sz="1000" b="1" spc="150" kern="0" dirty="0">
                <a:solidFill>
                  <a:srgbClr val="2E9E8F"/>
                </a:solidFill>
                <a:latin typeface="Arial" pitchFamily="34" charset="0"/>
                <a:ea typeface="Arial" pitchFamily="34" charset="-122"/>
                <a:cs typeface="Arial" pitchFamily="34" charset="-120"/>
              </a:rPr>
              <a:t>LAYER 1</a:t>
            </a:r>
            <a:endParaRPr lang="en-US" sz="1000" dirty="0"/>
          </a:p>
        </p:txBody>
      </p:sp>
      <p:sp>
        <p:nvSpPr>
          <p:cNvPr id="8" name="Text 6"/>
          <p:cNvSpPr/>
          <p:nvPr/>
        </p:nvSpPr>
        <p:spPr>
          <a:xfrm>
            <a:off x="822960" y="1920240"/>
            <a:ext cx="5120640" cy="292608"/>
          </a:xfrm>
          <a:prstGeom prst="rect">
            <a:avLst/>
          </a:prstGeom>
          <a:noFill/>
          <a:ln/>
        </p:spPr>
        <p:txBody>
          <a:bodyPr wrap="square" lIns="0" tIns="0" rIns="0" bIns="0" rtlCol="0" anchor="ctr"/>
          <a:lstStyle/>
          <a:p>
            <a:pPr indent="0" marL="0">
              <a:buNone/>
            </a:pPr>
            <a:r>
              <a:rPr lang="en-US" sz="1750" b="1" dirty="0">
                <a:solidFill>
                  <a:srgbClr val="101534"/>
                </a:solidFill>
                <a:latin typeface="Georgia" pitchFamily="34" charset="0"/>
                <a:ea typeface="Georgia" pitchFamily="34" charset="-122"/>
                <a:cs typeface="Georgia" pitchFamily="34" charset="-120"/>
              </a:rPr>
              <a:t>Pareto dominance</a:t>
            </a:r>
            <a:endParaRPr lang="en-US" sz="1750" dirty="0"/>
          </a:p>
        </p:txBody>
      </p:sp>
      <p:sp>
        <p:nvSpPr>
          <p:cNvPr id="9" name="Text 7"/>
          <p:cNvSpPr/>
          <p:nvPr/>
        </p:nvSpPr>
        <p:spPr>
          <a:xfrm>
            <a:off x="822960" y="2240280"/>
            <a:ext cx="5394960" cy="548640"/>
          </a:xfrm>
          <a:prstGeom prst="rect">
            <a:avLst/>
          </a:prstGeom>
          <a:noFill/>
          <a:ln/>
        </p:spPr>
        <p:txBody>
          <a:bodyPr wrap="square" lIns="0" tIns="0" rIns="0" bIns="0" rtlCol="0" anchor="ctr"/>
          <a:lstStyle/>
          <a:p>
            <a:pPr indent="0" marL="0">
              <a:lnSpc>
                <a:spcPts val="1600"/>
              </a:lnSpc>
              <a:buNone/>
            </a:pPr>
            <a:r>
              <a:rPr lang="en-US" sz="1150" dirty="0">
                <a:solidFill>
                  <a:srgbClr val="5A6178"/>
                </a:solidFill>
                <a:latin typeface="Arial" pitchFamily="34" charset="0"/>
                <a:ea typeface="Arial" pitchFamily="34" charset="-122"/>
                <a:cs typeface="Arial" pitchFamily="34" charset="-120"/>
              </a:rPr>
              <a:t>Weight-free. On accuracy and parameter-efficiency, a method is dominated if another is at least as good on both and strictly better on one. No non-negative weighting can rescue it.</a:t>
            </a:r>
            <a:endParaRPr lang="en-US" sz="1150" dirty="0"/>
          </a:p>
        </p:txBody>
      </p:sp>
      <p:sp>
        <p:nvSpPr>
          <p:cNvPr id="10" name="Shape 8"/>
          <p:cNvSpPr/>
          <p:nvPr/>
        </p:nvSpPr>
        <p:spPr>
          <a:xfrm>
            <a:off x="548640" y="3035808"/>
            <a:ext cx="5943600" cy="1298448"/>
          </a:xfrm>
          <a:prstGeom prst="roundRect">
            <a:avLst>
              <a:gd name="adj" fmla="val 3521"/>
            </a:avLst>
          </a:prstGeom>
          <a:solidFill>
            <a:srgbClr val="FFFFFF"/>
          </a:solidFill>
          <a:ln w="9525">
            <a:solidFill>
              <a:srgbClr val="DCDFEC"/>
            </a:solidFill>
            <a:prstDash val="solid"/>
          </a:ln>
        </p:spPr>
      </p:sp>
      <p:sp>
        <p:nvSpPr>
          <p:cNvPr id="11" name="Text 9"/>
          <p:cNvSpPr/>
          <p:nvPr/>
        </p:nvSpPr>
        <p:spPr>
          <a:xfrm>
            <a:off x="822960" y="3182112"/>
            <a:ext cx="1280160" cy="228600"/>
          </a:xfrm>
          <a:prstGeom prst="rect">
            <a:avLst/>
          </a:prstGeom>
          <a:noFill/>
          <a:ln/>
        </p:spPr>
        <p:txBody>
          <a:bodyPr wrap="square" lIns="0" tIns="0" rIns="0" bIns="0" rtlCol="0" anchor="ctr"/>
          <a:lstStyle/>
          <a:p>
            <a:pPr indent="0" marL="0">
              <a:buNone/>
            </a:pPr>
            <a:r>
              <a:rPr lang="en-US" sz="1000" b="1" spc="150" kern="0" dirty="0">
                <a:solidFill>
                  <a:srgbClr val="2B3A8F"/>
                </a:solidFill>
                <a:latin typeface="Arial" pitchFamily="34" charset="0"/>
                <a:ea typeface="Arial" pitchFamily="34" charset="-122"/>
                <a:cs typeface="Arial" pitchFamily="34" charset="-120"/>
              </a:rPr>
              <a:t>LAYER 2</a:t>
            </a:r>
            <a:endParaRPr lang="en-US" sz="1000" dirty="0"/>
          </a:p>
        </p:txBody>
      </p:sp>
      <p:sp>
        <p:nvSpPr>
          <p:cNvPr id="12" name="Text 10"/>
          <p:cNvSpPr/>
          <p:nvPr/>
        </p:nvSpPr>
        <p:spPr>
          <a:xfrm>
            <a:off x="822960" y="3401568"/>
            <a:ext cx="5120640" cy="292608"/>
          </a:xfrm>
          <a:prstGeom prst="rect">
            <a:avLst/>
          </a:prstGeom>
          <a:noFill/>
          <a:ln/>
        </p:spPr>
        <p:txBody>
          <a:bodyPr wrap="square" lIns="0" tIns="0" rIns="0" bIns="0" rtlCol="0" anchor="ctr"/>
          <a:lstStyle/>
          <a:p>
            <a:pPr indent="0" marL="0">
              <a:buNone/>
            </a:pPr>
            <a:r>
              <a:rPr lang="en-US" sz="1750" b="1" dirty="0">
                <a:solidFill>
                  <a:srgbClr val="101534"/>
                </a:solidFill>
                <a:latin typeface="Georgia" pitchFamily="34" charset="0"/>
                <a:ea typeface="Georgia" pitchFamily="34" charset="-122"/>
                <a:cs typeface="Georgia" pitchFamily="34" charset="-120"/>
              </a:rPr>
              <a:t>An interpretable scalar</a:t>
            </a:r>
            <a:endParaRPr lang="en-US" sz="1750" dirty="0"/>
          </a:p>
        </p:txBody>
      </p:sp>
      <p:sp>
        <p:nvSpPr>
          <p:cNvPr id="13" name="Text 11"/>
          <p:cNvSpPr/>
          <p:nvPr/>
        </p:nvSpPr>
        <p:spPr>
          <a:xfrm>
            <a:off x="822960" y="3721608"/>
            <a:ext cx="5394960" cy="548640"/>
          </a:xfrm>
          <a:prstGeom prst="rect">
            <a:avLst/>
          </a:prstGeom>
          <a:noFill/>
          <a:ln/>
        </p:spPr>
        <p:txBody>
          <a:bodyPr wrap="square" lIns="0" tIns="0" rIns="0" bIns="0" rtlCol="0" anchor="ctr"/>
          <a:lstStyle/>
          <a:p>
            <a:pPr indent="0" marL="0">
              <a:lnSpc>
                <a:spcPts val="1600"/>
              </a:lnSpc>
              <a:buNone/>
            </a:pPr>
            <a:r>
              <a:rPr lang="en-US" sz="1150" dirty="0">
                <a:solidFill>
                  <a:srgbClr val="5A6178"/>
                </a:solidFill>
                <a:latin typeface="Arial" pitchFamily="34" charset="0"/>
                <a:ea typeface="Arial" pitchFamily="34" charset="-122"/>
                <a:cs typeface="Arial" pitchFamily="34" charset="-120"/>
              </a:rPr>
              <a:t>E = PSNR / log₁₀(params) — decibels of fidelity retained per order of magnitude of parameters spent. Needs no reference method and no stored weights.</a:t>
            </a:r>
            <a:endParaRPr lang="en-US" sz="1150" dirty="0"/>
          </a:p>
        </p:txBody>
      </p:sp>
      <p:sp>
        <p:nvSpPr>
          <p:cNvPr id="14" name="Shape 12"/>
          <p:cNvSpPr/>
          <p:nvPr/>
        </p:nvSpPr>
        <p:spPr>
          <a:xfrm>
            <a:off x="548640" y="4517136"/>
            <a:ext cx="5943600" cy="1298448"/>
          </a:xfrm>
          <a:prstGeom prst="roundRect">
            <a:avLst>
              <a:gd name="adj" fmla="val 3521"/>
            </a:avLst>
          </a:prstGeom>
          <a:solidFill>
            <a:srgbClr val="FFFFFF"/>
          </a:solidFill>
          <a:ln w="9525">
            <a:solidFill>
              <a:srgbClr val="DCDFEC"/>
            </a:solidFill>
            <a:prstDash val="solid"/>
          </a:ln>
        </p:spPr>
      </p:sp>
      <p:sp>
        <p:nvSpPr>
          <p:cNvPr id="15" name="Text 13"/>
          <p:cNvSpPr/>
          <p:nvPr/>
        </p:nvSpPr>
        <p:spPr>
          <a:xfrm>
            <a:off x="822960" y="4663440"/>
            <a:ext cx="1280160" cy="228600"/>
          </a:xfrm>
          <a:prstGeom prst="rect">
            <a:avLst/>
          </a:prstGeom>
          <a:noFill/>
          <a:ln/>
        </p:spPr>
        <p:txBody>
          <a:bodyPr wrap="square" lIns="0" tIns="0" rIns="0" bIns="0" rtlCol="0" anchor="ctr"/>
          <a:lstStyle/>
          <a:p>
            <a:pPr indent="0" marL="0">
              <a:buNone/>
            </a:pPr>
            <a:r>
              <a:rPr lang="en-US" sz="1000" b="1" spc="150" kern="0" dirty="0">
                <a:solidFill>
                  <a:srgbClr val="E8A13A"/>
                </a:solidFill>
                <a:latin typeface="Arial" pitchFamily="34" charset="0"/>
                <a:ea typeface="Arial" pitchFamily="34" charset="-122"/>
                <a:cs typeface="Arial" pitchFamily="34" charset="-120"/>
              </a:rPr>
              <a:t>LAYER 3</a:t>
            </a:r>
            <a:endParaRPr lang="en-US" sz="1000" dirty="0"/>
          </a:p>
        </p:txBody>
      </p:sp>
      <p:sp>
        <p:nvSpPr>
          <p:cNvPr id="16" name="Text 14"/>
          <p:cNvSpPr/>
          <p:nvPr/>
        </p:nvSpPr>
        <p:spPr>
          <a:xfrm>
            <a:off x="822960" y="4882896"/>
            <a:ext cx="5120640" cy="292608"/>
          </a:xfrm>
          <a:prstGeom prst="rect">
            <a:avLst/>
          </a:prstGeom>
          <a:noFill/>
          <a:ln/>
        </p:spPr>
        <p:txBody>
          <a:bodyPr wrap="square" lIns="0" tIns="0" rIns="0" bIns="0" rtlCol="0" anchor="ctr"/>
          <a:lstStyle/>
          <a:p>
            <a:pPr indent="0" marL="0">
              <a:buNone/>
            </a:pPr>
            <a:r>
              <a:rPr lang="en-US" sz="1750" b="1" dirty="0">
                <a:solidFill>
                  <a:srgbClr val="101534"/>
                </a:solidFill>
                <a:latin typeface="Georgia" pitchFamily="34" charset="0"/>
                <a:ea typeface="Georgia" pitchFamily="34" charset="-122"/>
                <a:cs typeface="Georgia" pitchFamily="34" charset="-120"/>
              </a:rPr>
              <a:t>Profile-weighted tiers</a:t>
            </a:r>
            <a:endParaRPr lang="en-US" sz="1750" dirty="0"/>
          </a:p>
        </p:txBody>
      </p:sp>
      <p:sp>
        <p:nvSpPr>
          <p:cNvPr id="17" name="Text 15"/>
          <p:cNvSpPr/>
          <p:nvPr/>
        </p:nvSpPr>
        <p:spPr>
          <a:xfrm>
            <a:off x="822960" y="5202936"/>
            <a:ext cx="5394960" cy="548640"/>
          </a:xfrm>
          <a:prstGeom prst="rect">
            <a:avLst/>
          </a:prstGeom>
          <a:noFill/>
          <a:ln/>
        </p:spPr>
        <p:txBody>
          <a:bodyPr wrap="square" lIns="0" tIns="0" rIns="0" bIns="0" rtlCol="0" anchor="ctr"/>
          <a:lstStyle/>
          <a:p>
            <a:pPr indent="0" marL="0">
              <a:lnSpc>
                <a:spcPts val="1600"/>
              </a:lnSpc>
              <a:buNone/>
            </a:pPr>
            <a:r>
              <a:rPr lang="en-US" sz="1150" dirty="0">
                <a:solidFill>
                  <a:srgbClr val="5A6178"/>
                </a:solidFill>
                <a:latin typeface="Arial" pitchFamily="34" charset="0"/>
                <a:ea typeface="Arial" pitchFamily="34" charset="-122"/>
                <a:cs typeface="Arial" pitchFamily="34" charset="-120"/>
              </a:rPr>
              <a:t>Each axis min–max normalized, combined under a named profile (Balanced, Quality, Compression, Realtime), then graded S ≥ 0.80, A ≥ 0.65, B ≥ 0.45, C ≥ 0.25, else D.</a:t>
            </a:r>
            <a:endParaRPr lang="en-US" sz="1150" dirty="0"/>
          </a:p>
        </p:txBody>
      </p:sp>
      <p:pic>
        <p:nvPicPr>
          <p:cNvPr id="18" name="Image 0" descr="/home/claude/work/figs/p08_Im3.png">    </p:cNvPr>
          <p:cNvPicPr>
            <a:picLocks noChangeAspect="1"/>
          </p:cNvPicPr>
          <p:nvPr/>
        </p:nvPicPr>
        <p:blipFill>
          <a:blip r:embed="rId1"/>
          <a:stretch>
            <a:fillRect/>
          </a:stretch>
        </p:blipFill>
        <p:spPr>
          <a:xfrm>
            <a:off x="6766560" y="1965960"/>
            <a:ext cx="4892040" cy="2880360"/>
          </a:xfrm>
          <a:prstGeom prst="rect">
            <a:avLst/>
          </a:prstGeom>
        </p:spPr>
      </p:pic>
      <p:sp>
        <p:nvSpPr>
          <p:cNvPr id="19" name="Text 16"/>
          <p:cNvSpPr/>
          <p:nvPr/>
        </p:nvSpPr>
        <p:spPr>
          <a:xfrm>
            <a:off x="6766560" y="4983480"/>
            <a:ext cx="4892040" cy="731520"/>
          </a:xfrm>
          <a:prstGeom prst="rect">
            <a:avLst/>
          </a:prstGeom>
          <a:noFill/>
          <a:ln/>
        </p:spPr>
        <p:txBody>
          <a:bodyPr wrap="square" lIns="0" tIns="0" rIns="0" bIns="0" rtlCol="0" anchor="ctr"/>
          <a:lstStyle/>
          <a:p>
            <a:pPr indent="0" marL="0">
              <a:lnSpc>
                <a:spcPts val="1700"/>
              </a:lnSpc>
              <a:buNone/>
            </a:pPr>
            <a:r>
              <a:rPr lang="en-US" sz="1200" i="1" dirty="0">
                <a:solidFill>
                  <a:srgbClr val="5A6178"/>
                </a:solidFill>
                <a:latin typeface="Arial" pitchFamily="34" charset="0"/>
                <a:ea typeface="Arial" pitchFamily="34" charset="-122"/>
                <a:cs typeface="Arial" pitchFamily="34" charset="-120"/>
              </a:rPr>
              <a:t>The non-dominated methods form the rate–distortion frontier; Layers 2 and 3 only rank what survives Layer 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DATA</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Three datasets, three different questions</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10</a:t>
            </a:r>
            <a:endParaRPr lang="en-US" sz="1200" dirty="0"/>
          </a:p>
        </p:txBody>
      </p:sp>
      <p:sp>
        <p:nvSpPr>
          <p:cNvPr id="6" name="Shape 4"/>
          <p:cNvSpPr/>
          <p:nvPr/>
        </p:nvSpPr>
        <p:spPr>
          <a:xfrm>
            <a:off x="548640" y="1536192"/>
            <a:ext cx="5989320" cy="1280160"/>
          </a:xfrm>
          <a:prstGeom prst="roundRect">
            <a:avLst>
              <a:gd name="adj" fmla="val 3571"/>
            </a:avLst>
          </a:prstGeom>
          <a:solidFill>
            <a:srgbClr val="FFFFFF"/>
          </a:solidFill>
          <a:ln w="9525">
            <a:solidFill>
              <a:srgbClr val="DCDFEC"/>
            </a:solidFill>
            <a:prstDash val="solid"/>
          </a:ln>
        </p:spPr>
      </p:sp>
      <p:sp>
        <p:nvSpPr>
          <p:cNvPr id="7" name="Text 5"/>
          <p:cNvSpPr/>
          <p:nvPr/>
        </p:nvSpPr>
        <p:spPr>
          <a:xfrm>
            <a:off x="841248" y="1682496"/>
            <a:ext cx="4114800" cy="292608"/>
          </a:xfrm>
          <a:prstGeom prst="rect">
            <a:avLst/>
          </a:prstGeom>
          <a:noFill/>
          <a:ln/>
        </p:spPr>
        <p:txBody>
          <a:bodyPr wrap="square" lIns="0" tIns="0" rIns="0" bIns="0" rtlCol="0" anchor="ctr"/>
          <a:lstStyle/>
          <a:p>
            <a:pPr indent="0" marL="0">
              <a:buNone/>
            </a:pPr>
            <a:r>
              <a:rPr lang="en-US" sz="1700" b="1" dirty="0">
                <a:solidFill>
                  <a:srgbClr val="101534"/>
                </a:solidFill>
                <a:latin typeface="Georgia" pitchFamily="34" charset="0"/>
                <a:ea typeface="Georgia" pitchFamily="34" charset="-122"/>
                <a:cs typeface="Georgia" pitchFamily="34" charset="-120"/>
              </a:rPr>
              <a:t>Synthetic mixed-structure</a:t>
            </a:r>
            <a:endParaRPr lang="en-US" sz="1700" dirty="0"/>
          </a:p>
        </p:txBody>
      </p:sp>
      <p:sp>
        <p:nvSpPr>
          <p:cNvPr id="8" name="Shape 6"/>
          <p:cNvSpPr/>
          <p:nvPr/>
        </p:nvSpPr>
        <p:spPr>
          <a:xfrm>
            <a:off x="5029200" y="1682496"/>
            <a:ext cx="1234440" cy="292608"/>
          </a:xfrm>
          <a:prstGeom prst="roundRect">
            <a:avLst>
              <a:gd name="adj" fmla="val 18750"/>
            </a:avLst>
          </a:prstGeom>
          <a:solidFill>
            <a:srgbClr val="101534"/>
          </a:solidFill>
          <a:ln/>
        </p:spPr>
      </p:sp>
      <p:sp>
        <p:nvSpPr>
          <p:cNvPr id="9" name="Text 7"/>
          <p:cNvSpPr/>
          <p:nvPr/>
        </p:nvSpPr>
        <p:spPr>
          <a:xfrm>
            <a:off x="5029200" y="1682496"/>
            <a:ext cx="1234440" cy="292608"/>
          </a:xfrm>
          <a:prstGeom prst="rect">
            <a:avLst/>
          </a:prstGeom>
          <a:noFill/>
          <a:ln/>
        </p:spPr>
        <p:txBody>
          <a:bodyPr wrap="square" lIns="0" tIns="0" rIns="0" bIns="0" rtlCol="0" anchor="ctr"/>
          <a:lstStyle/>
          <a:p>
            <a:pPr algn="ctr" indent="0" marL="0">
              <a:buNone/>
            </a:pPr>
            <a:r>
              <a:rPr lang="en-US" sz="1100" b="1" dirty="0">
                <a:solidFill>
                  <a:srgbClr val="E8A13A"/>
                </a:solidFill>
                <a:latin typeface="Arial" pitchFamily="34" charset="0"/>
                <a:ea typeface="Arial" pitchFamily="34" charset="-122"/>
                <a:cs typeface="Arial" pitchFamily="34" charset="-120"/>
              </a:rPr>
              <a:t>6×6×6</a:t>
            </a:r>
            <a:endParaRPr lang="en-US" sz="1100" dirty="0"/>
          </a:p>
        </p:txBody>
      </p:sp>
      <p:sp>
        <p:nvSpPr>
          <p:cNvPr id="10" name="Text 8"/>
          <p:cNvSpPr/>
          <p:nvPr/>
        </p:nvSpPr>
        <p:spPr>
          <a:xfrm>
            <a:off x="841248" y="2029968"/>
            <a:ext cx="5440680" cy="713232"/>
          </a:xfrm>
          <a:prstGeom prst="rect">
            <a:avLst/>
          </a:prstGeom>
          <a:noFill/>
          <a:ln/>
        </p:spPr>
        <p:txBody>
          <a:bodyPr wrap="square" lIns="0" tIns="0" rIns="0" bIns="0" rtlCol="0" anchor="t"/>
          <a:lstStyle/>
          <a:p>
            <a:pPr indent="0" marL="0">
              <a:lnSpc>
                <a:spcPts val="1600"/>
              </a:lnSpc>
              <a:buNone/>
            </a:pPr>
            <a:r>
              <a:rPr lang="en-US" sz="1150" dirty="0">
                <a:solidFill>
                  <a:srgbClr val="5A6178"/>
                </a:solidFill>
                <a:latin typeface="Arial" pitchFamily="34" charset="0"/>
                <a:ea typeface="Arial" pitchFamily="34" charset="-122"/>
                <a:cs typeface="Arial" pitchFamily="34" charset="-120"/>
              </a:rPr>
              <a:t>Ground-truth atoms that are 40% separable, 40% low-TT-rank and 20% dense, so no structure is trivially favoured. Rank swept directly rather than tiered.</a:t>
            </a:r>
            <a:endParaRPr lang="en-US" sz="1150" dirty="0"/>
          </a:p>
        </p:txBody>
      </p:sp>
      <p:sp>
        <p:nvSpPr>
          <p:cNvPr id="11" name="Shape 9"/>
          <p:cNvSpPr/>
          <p:nvPr/>
        </p:nvSpPr>
        <p:spPr>
          <a:xfrm>
            <a:off x="548640" y="2953512"/>
            <a:ext cx="5989320" cy="1280160"/>
          </a:xfrm>
          <a:prstGeom prst="roundRect">
            <a:avLst>
              <a:gd name="adj" fmla="val 3571"/>
            </a:avLst>
          </a:prstGeom>
          <a:solidFill>
            <a:srgbClr val="FFFFFF"/>
          </a:solidFill>
          <a:ln w="9525">
            <a:solidFill>
              <a:srgbClr val="DCDFEC"/>
            </a:solidFill>
            <a:prstDash val="solid"/>
          </a:ln>
        </p:spPr>
      </p:sp>
      <p:sp>
        <p:nvSpPr>
          <p:cNvPr id="12" name="Text 10"/>
          <p:cNvSpPr/>
          <p:nvPr/>
        </p:nvSpPr>
        <p:spPr>
          <a:xfrm>
            <a:off x="841248" y="3099816"/>
            <a:ext cx="4114800" cy="292608"/>
          </a:xfrm>
          <a:prstGeom prst="rect">
            <a:avLst/>
          </a:prstGeom>
          <a:noFill/>
          <a:ln/>
        </p:spPr>
        <p:txBody>
          <a:bodyPr wrap="square" lIns="0" tIns="0" rIns="0" bIns="0" rtlCol="0" anchor="ctr"/>
          <a:lstStyle/>
          <a:p>
            <a:pPr indent="0" marL="0">
              <a:buNone/>
            </a:pPr>
            <a:r>
              <a:rPr lang="en-US" sz="1700" b="1" dirty="0">
                <a:solidFill>
                  <a:srgbClr val="101534"/>
                </a:solidFill>
                <a:latin typeface="Georgia" pitchFamily="34" charset="0"/>
                <a:ea typeface="Georgia" pitchFamily="34" charset="-122"/>
                <a:cs typeface="Georgia" pitchFamily="34" charset="-120"/>
              </a:rPr>
              <a:t>Real RGB patches</a:t>
            </a:r>
            <a:endParaRPr lang="en-US" sz="1700" dirty="0"/>
          </a:p>
        </p:txBody>
      </p:sp>
      <p:sp>
        <p:nvSpPr>
          <p:cNvPr id="13" name="Shape 11"/>
          <p:cNvSpPr/>
          <p:nvPr/>
        </p:nvSpPr>
        <p:spPr>
          <a:xfrm>
            <a:off x="5029200" y="3099816"/>
            <a:ext cx="1234440" cy="292608"/>
          </a:xfrm>
          <a:prstGeom prst="roundRect">
            <a:avLst>
              <a:gd name="adj" fmla="val 18750"/>
            </a:avLst>
          </a:prstGeom>
          <a:solidFill>
            <a:srgbClr val="101534"/>
          </a:solidFill>
          <a:ln/>
        </p:spPr>
      </p:sp>
      <p:sp>
        <p:nvSpPr>
          <p:cNvPr id="14" name="Text 12"/>
          <p:cNvSpPr/>
          <p:nvPr/>
        </p:nvSpPr>
        <p:spPr>
          <a:xfrm>
            <a:off x="5029200" y="3099816"/>
            <a:ext cx="1234440" cy="292608"/>
          </a:xfrm>
          <a:prstGeom prst="rect">
            <a:avLst/>
          </a:prstGeom>
          <a:noFill/>
          <a:ln/>
        </p:spPr>
        <p:txBody>
          <a:bodyPr wrap="square" lIns="0" tIns="0" rIns="0" bIns="0" rtlCol="0" anchor="ctr"/>
          <a:lstStyle/>
          <a:p>
            <a:pPr algn="ctr" indent="0" marL="0">
              <a:buNone/>
            </a:pPr>
            <a:r>
              <a:rPr lang="en-US" sz="1100" b="1" dirty="0">
                <a:solidFill>
                  <a:srgbClr val="E8A13A"/>
                </a:solidFill>
                <a:latin typeface="Arial" pitchFamily="34" charset="0"/>
                <a:ea typeface="Arial" pitchFamily="34" charset="-122"/>
                <a:cs typeface="Arial" pitchFamily="34" charset="-120"/>
              </a:rPr>
              <a:t>8×8×3</a:t>
            </a:r>
            <a:endParaRPr lang="en-US" sz="1100" dirty="0"/>
          </a:p>
        </p:txBody>
      </p:sp>
      <p:sp>
        <p:nvSpPr>
          <p:cNvPr id="15" name="Text 13"/>
          <p:cNvSpPr/>
          <p:nvPr/>
        </p:nvSpPr>
        <p:spPr>
          <a:xfrm>
            <a:off x="841248" y="3447288"/>
            <a:ext cx="5440680" cy="713232"/>
          </a:xfrm>
          <a:prstGeom prst="rect">
            <a:avLst/>
          </a:prstGeom>
          <a:noFill/>
          <a:ln/>
        </p:spPr>
        <p:txBody>
          <a:bodyPr wrap="square" lIns="0" tIns="0" rIns="0" bIns="0" rtlCol="0" anchor="t"/>
          <a:lstStyle/>
          <a:p>
            <a:pPr indent="0" marL="0">
              <a:lnSpc>
                <a:spcPts val="1600"/>
              </a:lnSpc>
              <a:buNone/>
            </a:pPr>
            <a:r>
              <a:rPr lang="en-US" sz="1150" dirty="0">
                <a:solidFill>
                  <a:srgbClr val="5A6178"/>
                </a:solidFill>
                <a:latin typeface="Arial" pitchFamily="34" charset="0"/>
                <a:ea typeface="Arial" pitchFamily="34" charset="-122"/>
                <a:cs typeface="Arial" pitchFamily="34" charset="-120"/>
              </a:rPr>
              <a:t>Sampled from a standard photograph, mean-removed and normalized. No ground truth, so the full three-layer ranking is applied at fixed hyperparameters.</a:t>
            </a:r>
            <a:endParaRPr lang="en-US" sz="1150" dirty="0"/>
          </a:p>
        </p:txBody>
      </p:sp>
      <p:sp>
        <p:nvSpPr>
          <p:cNvPr id="16" name="Shape 14"/>
          <p:cNvSpPr/>
          <p:nvPr/>
        </p:nvSpPr>
        <p:spPr>
          <a:xfrm>
            <a:off x="548640" y="4370832"/>
            <a:ext cx="5989320" cy="1280160"/>
          </a:xfrm>
          <a:prstGeom prst="roundRect">
            <a:avLst>
              <a:gd name="adj" fmla="val 3571"/>
            </a:avLst>
          </a:prstGeom>
          <a:solidFill>
            <a:srgbClr val="FFFFFF"/>
          </a:solidFill>
          <a:ln w="9525">
            <a:solidFill>
              <a:srgbClr val="DCDFEC"/>
            </a:solidFill>
            <a:prstDash val="solid"/>
          </a:ln>
        </p:spPr>
      </p:sp>
      <p:sp>
        <p:nvSpPr>
          <p:cNvPr id="17" name="Text 15"/>
          <p:cNvSpPr/>
          <p:nvPr/>
        </p:nvSpPr>
        <p:spPr>
          <a:xfrm>
            <a:off x="841248" y="4517136"/>
            <a:ext cx="4114800" cy="292608"/>
          </a:xfrm>
          <a:prstGeom prst="rect">
            <a:avLst/>
          </a:prstGeom>
          <a:noFill/>
          <a:ln/>
        </p:spPr>
        <p:txBody>
          <a:bodyPr wrap="square" lIns="0" tIns="0" rIns="0" bIns="0" rtlCol="0" anchor="ctr"/>
          <a:lstStyle/>
          <a:p>
            <a:pPr indent="0" marL="0">
              <a:buNone/>
            </a:pPr>
            <a:r>
              <a:rPr lang="en-US" sz="1700" b="1" dirty="0">
                <a:solidFill>
                  <a:srgbClr val="101534"/>
                </a:solidFill>
                <a:latin typeface="Georgia" pitchFamily="34" charset="0"/>
                <a:ea typeface="Georgia" pitchFamily="34" charset="-122"/>
                <a:cs typeface="Georgia" pitchFamily="34" charset="-120"/>
              </a:rPr>
              <a:t>Hyperspectral cube</a:t>
            </a:r>
            <a:endParaRPr lang="en-US" sz="1700" dirty="0"/>
          </a:p>
        </p:txBody>
      </p:sp>
      <p:sp>
        <p:nvSpPr>
          <p:cNvPr id="18" name="Shape 16"/>
          <p:cNvSpPr/>
          <p:nvPr/>
        </p:nvSpPr>
        <p:spPr>
          <a:xfrm>
            <a:off x="5029200" y="4517136"/>
            <a:ext cx="1234440" cy="292608"/>
          </a:xfrm>
          <a:prstGeom prst="roundRect">
            <a:avLst>
              <a:gd name="adj" fmla="val 18750"/>
            </a:avLst>
          </a:prstGeom>
          <a:solidFill>
            <a:srgbClr val="101534"/>
          </a:solidFill>
          <a:ln/>
        </p:spPr>
      </p:sp>
      <p:sp>
        <p:nvSpPr>
          <p:cNvPr id="19" name="Text 17"/>
          <p:cNvSpPr/>
          <p:nvPr/>
        </p:nvSpPr>
        <p:spPr>
          <a:xfrm>
            <a:off x="5029200" y="4517136"/>
            <a:ext cx="1234440" cy="292608"/>
          </a:xfrm>
          <a:prstGeom prst="rect">
            <a:avLst/>
          </a:prstGeom>
          <a:noFill/>
          <a:ln/>
        </p:spPr>
        <p:txBody>
          <a:bodyPr wrap="square" lIns="0" tIns="0" rIns="0" bIns="0" rtlCol="0" anchor="ctr"/>
          <a:lstStyle/>
          <a:p>
            <a:pPr algn="ctr" indent="0" marL="0">
              <a:buNone/>
            </a:pPr>
            <a:r>
              <a:rPr lang="en-US" sz="1100" b="1" dirty="0">
                <a:solidFill>
                  <a:srgbClr val="E8A13A"/>
                </a:solidFill>
                <a:latin typeface="Arial" pitchFamily="34" charset="0"/>
                <a:ea typeface="Arial" pitchFamily="34" charset="-122"/>
                <a:cs typeface="Arial" pitchFamily="34" charset="-120"/>
              </a:rPr>
              <a:t>6×6×16</a:t>
            </a:r>
            <a:endParaRPr lang="en-US" sz="1100" dirty="0"/>
          </a:p>
        </p:txBody>
      </p:sp>
      <p:sp>
        <p:nvSpPr>
          <p:cNvPr id="20" name="Text 18"/>
          <p:cNvSpPr/>
          <p:nvPr/>
        </p:nvSpPr>
        <p:spPr>
          <a:xfrm>
            <a:off x="841248" y="4864608"/>
            <a:ext cx="5440680" cy="713232"/>
          </a:xfrm>
          <a:prstGeom prst="rect">
            <a:avLst/>
          </a:prstGeom>
          <a:noFill/>
          <a:ln/>
        </p:spPr>
        <p:txBody>
          <a:bodyPr wrap="square" lIns="0" tIns="0" rIns="0" bIns="0" rtlCol="0" anchor="t"/>
          <a:lstStyle/>
          <a:p>
            <a:pPr indent="0" marL="0">
              <a:lnSpc>
                <a:spcPts val="1600"/>
              </a:lnSpc>
              <a:buNone/>
            </a:pPr>
            <a:r>
              <a:rPr lang="en-US" sz="1150" dirty="0">
                <a:solidFill>
                  <a:srgbClr val="5A6178"/>
                </a:solidFill>
                <a:latin typeface="Arial" pitchFamily="34" charset="0"/>
                <a:ea typeface="Arial" pitchFamily="34" charset="-122"/>
                <a:cs typeface="Arial" pitchFamily="34" charset="-120"/>
              </a:rPr>
              <a:t>Five Gaussian endmember spectra mixed by smooth abundance maps: genuinely low-rank with one fat spectral mode. Evaluated at matched parameter budget.</a:t>
            </a:r>
            <a:endParaRPr lang="en-US" sz="1150" dirty="0"/>
          </a:p>
        </p:txBody>
      </p:sp>
      <p:pic>
        <p:nvPicPr>
          <p:cNvPr id="21" name="Image 0" descr="/home/claude/work/figs/p19_Im15.png">    </p:cNvPr>
          <p:cNvPicPr>
            <a:picLocks noChangeAspect="1"/>
          </p:cNvPicPr>
          <p:nvPr/>
        </p:nvPicPr>
        <p:blipFill>
          <a:blip r:embed="rId1"/>
          <a:stretch>
            <a:fillRect/>
          </a:stretch>
        </p:blipFill>
        <p:spPr>
          <a:xfrm>
            <a:off x="6812280" y="1691640"/>
            <a:ext cx="4846320" cy="2606040"/>
          </a:xfrm>
          <a:prstGeom prst="rect">
            <a:avLst/>
          </a:prstGeom>
        </p:spPr>
      </p:pic>
      <p:sp>
        <p:nvSpPr>
          <p:cNvPr id="22" name="Text 19"/>
          <p:cNvSpPr/>
          <p:nvPr/>
        </p:nvSpPr>
        <p:spPr>
          <a:xfrm>
            <a:off x="6812280" y="4407408"/>
            <a:ext cx="4846320" cy="731520"/>
          </a:xfrm>
          <a:prstGeom prst="rect">
            <a:avLst/>
          </a:prstGeom>
          <a:noFill/>
          <a:ln/>
        </p:spPr>
        <p:txBody>
          <a:bodyPr wrap="square" lIns="0" tIns="0" rIns="0" bIns="0" rtlCol="0" anchor="ctr"/>
          <a:lstStyle/>
          <a:p>
            <a:pPr indent="0" marL="0">
              <a:lnSpc>
                <a:spcPts val="1600"/>
              </a:lnSpc>
              <a:buNone/>
            </a:pPr>
            <a:r>
              <a:rPr lang="en-US" sz="1100" dirty="0">
                <a:solidFill>
                  <a:srgbClr val="5A6178"/>
                </a:solidFill>
                <a:latin typeface="Arial" pitchFamily="34" charset="0"/>
                <a:ea typeface="Arial" pitchFamily="34" charset="-122"/>
                <a:cs typeface="Arial" pitchFamily="34" charset="-120"/>
              </a:rPr>
              <a:t>The synthetic HSI cube: five endmember spectra mixed by smooth abundance maps into a 72×72×16 cube, cut into 6×6×16 patches. No real capture is used.</a:t>
            </a:r>
            <a:endParaRPr lang="en-US" sz="1100" dirty="0"/>
          </a:p>
        </p:txBody>
      </p:sp>
      <p:sp>
        <p:nvSpPr>
          <p:cNvPr id="23" name="Text 20"/>
          <p:cNvSpPr/>
          <p:nvPr/>
        </p:nvSpPr>
        <p:spPr>
          <a:xfrm>
            <a:off x="548640" y="5943600"/>
            <a:ext cx="11109960" cy="457200"/>
          </a:xfrm>
          <a:prstGeom prst="rect">
            <a:avLst/>
          </a:prstGeom>
          <a:noFill/>
          <a:ln/>
        </p:spPr>
        <p:txBody>
          <a:bodyPr wrap="square" lIns="0" tIns="0" rIns="0" bIns="0" rtlCol="0" anchor="t"/>
          <a:lstStyle/>
          <a:p>
            <a:pPr indent="0" marL="0">
              <a:lnSpc>
                <a:spcPts val="1700"/>
              </a:lnSpc>
              <a:buNone/>
            </a:pPr>
            <a:r>
              <a:rPr lang="en-US" sz="1250" i="1" dirty="0">
                <a:solidFill>
                  <a:srgbClr val="2B3A8F"/>
                </a:solidFill>
                <a:latin typeface="Arial" pitchFamily="34" charset="0"/>
                <a:ea typeface="Arial" pitchFamily="34" charset="-122"/>
                <a:cs typeface="Arial" pitchFamily="34" charset="-120"/>
              </a:rPr>
              <a:t>Dictionaries are learned on noisy training patches and evaluated by denoising PSNR against clean held-out test patches, averaged over random seeds. Decomposition primitives use TensorLy.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RESULT 1 · SYNTHETIC</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On rich, clean data the unstructured baseline wins</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11</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943600" cy="914400"/>
        </p:xfrm>
        <a:graphic>
          <a:graphicData uri="http://schemas.openxmlformats.org/drawingml/2006/table">
            <a:tbl>
              <a:tblPr/>
              <a:tblGrid>
                <a:gridCol w="1737360"/>
                <a:gridCol w="1371600"/>
                <a:gridCol w="1554480"/>
                <a:gridCol w="1280160"/>
              </a:tblGrid>
              <a:tr h="402336">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Model</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Params</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r" indent="0" marL="0">
                        <a:buNone/>
                      </a:pPr>
                      <a:r>
                        <a:rPr lang="en-US" sz="1150" b="1" dirty="0">
                          <a:solidFill>
                            <a:srgbClr val="FFFFFF"/>
                          </a:solidFill>
                          <a:latin typeface="Arial" pitchFamily="34" charset="0"/>
                          <a:ea typeface="Arial" pitchFamily="34" charset="-122"/>
                          <a:cs typeface="Arial" pitchFamily="34" charset="-120"/>
                        </a:rPr>
                        <a:t>Compression</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PSNR (dB)</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r>
              <a:tr h="402336">
                <a:tc>
                  <a:txBody>
                    <a:bodyPr/>
                    <a:lstStyle/>
                    <a:p>
                      <a:pPr algn="l" indent="0" marL="0">
                        <a:buNone/>
                      </a:pPr>
                      <a:r>
                        <a:rPr lang="en-US" sz="1200" b="1" dirty="0">
                          <a:solidFill>
                            <a:srgbClr val="101534"/>
                          </a:solidFill>
                          <a:latin typeface="Arial" pitchFamily="34" charset="0"/>
                          <a:ea typeface="Arial" pitchFamily="34" charset="-122"/>
                          <a:cs typeface="Arial" pitchFamily="34" charset="-120"/>
                        </a:rPr>
                        <a:t>Vectorized</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25,920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41.49</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r>
              <a:tr h="402336">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CP</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2,160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12.0×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33.14</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r h="402336">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Tucker†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126</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205.7×</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27.01</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TT</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5,760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38.29</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r h="402336">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8,640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38.95</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4315968"/>
            <a:ext cx="5943600" cy="274320"/>
          </a:xfrm>
          <a:prstGeom prst="rect">
            <a:avLst/>
          </a:prstGeom>
          <a:noFill/>
          <a:ln/>
        </p:spPr>
        <p:txBody>
          <a:bodyPr wrap="square" lIns="0" tIns="0" rIns="0" bIns="0" rtlCol="0" anchor="ctr"/>
          <a:lstStyle/>
          <a:p>
            <a:pPr indent="0" marL="0">
              <a:buNone/>
            </a:pPr>
            <a:r>
              <a:rPr lang="en-US" sz="1050" i="1" dirty="0">
                <a:solidFill>
                  <a:srgbClr val="5A6178"/>
                </a:solidFill>
                <a:latin typeface="Arial" pitchFamily="34" charset="0"/>
                <a:ea typeface="Arial" pitchFamily="34" charset="-122"/>
                <a:cs typeface="Arial" pitchFamily="34" charset="-120"/>
              </a:rPr>
              <a:t>† initial out-of-harness Tucker optimizer — diagnosed and corrected later in the talk.</a:t>
            </a:r>
            <a:endParaRPr lang="en-US" sz="1050" dirty="0"/>
          </a:p>
        </p:txBody>
      </p:sp>
      <p:sp>
        <p:nvSpPr>
          <p:cNvPr id="8" name="Text 5"/>
          <p:cNvSpPr/>
          <p:nvPr/>
        </p:nvSpPr>
        <p:spPr>
          <a:xfrm>
            <a:off x="548640" y="4663440"/>
            <a:ext cx="5943600" cy="16916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5A6178"/>
                </a:solidFill>
                <a:latin typeface="Arial" pitchFamily="34" charset="0"/>
                <a:ea typeface="Arial" pitchFamily="34" charset="-122"/>
                <a:cs typeface="Arial" pitchFamily="34" charset="-120"/>
              </a:rPr>
              <a:t>The baseline buys its 41.5 dB with the largest dictionary by an order of magnitude — warranted, since nothing constrains it.</a:t>
            </a:r>
            <a:endParaRPr lang="en-US" sz="1250" dirty="0"/>
          </a:p>
          <a:p>
            <a:pPr marL="177800" indent="-177800">
              <a:spcAft>
                <a:spcPts val="800"/>
              </a:spcAft>
              <a:buSzPct val="100000"/>
              <a:buChar char="•"/>
            </a:pPr>
            <a:r>
              <a:rPr lang="en-US" sz="1250" dirty="0">
                <a:solidFill>
                  <a:srgbClr val="5A6178"/>
                </a:solidFill>
                <a:latin typeface="Arial" pitchFamily="34" charset="0"/>
                <a:ea typeface="Arial" pitchFamily="34" charset="-122"/>
                <a:cs typeface="Arial" pitchFamily="34" charset="-120"/>
              </a:rPr>
              <a:t>CP is the most compact per atom at 12× smaller, but least accurate at fixed atom count; TT and TR occupy the middle.</a:t>
            </a:r>
            <a:endParaRPr lang="en-US" sz="1250" dirty="0"/>
          </a:p>
          <a:p>
            <a:pPr marL="177800" indent="-177800">
              <a:spcAft>
                <a:spcPts val="800"/>
              </a:spcAft>
              <a:buSzPct val="100000"/>
              <a:buChar char="•"/>
            </a:pPr>
            <a:r>
              <a:rPr lang="en-US" sz="1250" dirty="0">
                <a:solidFill>
                  <a:srgbClr val="5A6178"/>
                </a:solidFill>
                <a:latin typeface="Arial" pitchFamily="34" charset="0"/>
                <a:ea typeface="Arial" pitchFamily="34" charset="-122"/>
                <a:cs typeface="Arial" pitchFamily="34" charset="-120"/>
              </a:rPr>
              <a:t>At rank 1, CP, TT and TR coincide exactly — all three collapse to the same outer product a ∘ b ∘ c.</a:t>
            </a:r>
            <a:endParaRPr lang="en-US" sz="1250" dirty="0"/>
          </a:p>
        </p:txBody>
      </p:sp>
      <p:pic>
        <p:nvPicPr>
          <p:cNvPr id="9" name="Image 0" descr="/home/claude/work/figs/p11_Im5.png">    </p:cNvPr>
          <p:cNvPicPr>
            <a:picLocks noChangeAspect="1"/>
          </p:cNvPicPr>
          <p:nvPr/>
        </p:nvPicPr>
        <p:blipFill>
          <a:blip r:embed="rId1"/>
          <a:stretch>
            <a:fillRect/>
          </a:stretch>
        </p:blipFill>
        <p:spPr>
          <a:xfrm>
            <a:off x="6858000" y="1645920"/>
            <a:ext cx="4754880" cy="3273552"/>
          </a:xfrm>
          <a:prstGeom prst="rect">
            <a:avLst/>
          </a:prstGeom>
        </p:spPr>
      </p:pic>
      <p:sp>
        <p:nvSpPr>
          <p:cNvPr id="10" name="Text 6"/>
          <p:cNvSpPr/>
          <p:nvPr/>
        </p:nvSpPr>
        <p:spPr>
          <a:xfrm>
            <a:off x="6858000" y="5029200"/>
            <a:ext cx="4754880" cy="548640"/>
          </a:xfrm>
          <a:prstGeom prst="rect">
            <a:avLst/>
          </a:prstGeom>
          <a:noFill/>
          <a:ln/>
        </p:spPr>
        <p:txBody>
          <a:bodyPr wrap="square" lIns="0" tIns="0" rIns="0" bIns="0" rtlCol="0" anchor="ctr"/>
          <a:lstStyle/>
          <a:p>
            <a:pPr indent="0" marL="0">
              <a:lnSpc>
                <a:spcPts val="1600"/>
              </a:lnSpc>
              <a:buNone/>
            </a:pPr>
            <a:r>
              <a:rPr lang="en-US" sz="1100" dirty="0">
                <a:solidFill>
                  <a:srgbClr val="5A6178"/>
                </a:solidFill>
                <a:latin typeface="Arial" pitchFamily="34" charset="0"/>
                <a:ea typeface="Arial" pitchFamily="34" charset="-122"/>
                <a:cs typeface="Arial" pitchFamily="34" charset="-120"/>
              </a:rPr>
              <a:t>Efficiency frontier: test PSNR versus dictionary parameters (log scale). Up-and-left is better.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RESULT 1 · DIAGNOSIS</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20% of the signal has no tensor structure to exploit</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12</a:t>
            </a:r>
            <a:endParaRPr lang="en-US" sz="1200" dirty="0"/>
          </a:p>
        </p:txBody>
      </p:sp>
      <p:sp>
        <p:nvSpPr>
          <p:cNvPr id="6" name="Shape 4"/>
          <p:cNvSpPr/>
          <p:nvPr/>
        </p:nvSpPr>
        <p:spPr>
          <a:xfrm>
            <a:off x="548640" y="1463040"/>
            <a:ext cx="3584448" cy="777240"/>
          </a:xfrm>
          <a:prstGeom prst="roundRect">
            <a:avLst>
              <a:gd name="adj" fmla="val 5882"/>
            </a:avLst>
          </a:prstGeom>
          <a:solidFill>
            <a:srgbClr val="FFFFFF"/>
          </a:solidFill>
          <a:ln w="9525">
            <a:solidFill>
              <a:srgbClr val="DCDFEC"/>
            </a:solidFill>
            <a:prstDash val="solid"/>
          </a:ln>
        </p:spPr>
      </p:sp>
      <p:sp>
        <p:nvSpPr>
          <p:cNvPr id="7" name="Text 5"/>
          <p:cNvSpPr/>
          <p:nvPr/>
        </p:nvSpPr>
        <p:spPr>
          <a:xfrm>
            <a:off x="804672" y="1572768"/>
            <a:ext cx="914400" cy="548640"/>
          </a:xfrm>
          <a:prstGeom prst="rect">
            <a:avLst/>
          </a:prstGeom>
          <a:noFill/>
          <a:ln/>
        </p:spPr>
        <p:txBody>
          <a:bodyPr wrap="square" lIns="0" tIns="0" rIns="0" bIns="0" rtlCol="0" anchor="ctr"/>
          <a:lstStyle/>
          <a:p>
            <a:pPr indent="0" marL="0">
              <a:buNone/>
            </a:pPr>
            <a:r>
              <a:rPr lang="en-US" sz="2400" b="1" dirty="0">
                <a:solidFill>
                  <a:srgbClr val="2E9E8F"/>
                </a:solidFill>
                <a:latin typeface="Georgia" pitchFamily="34" charset="0"/>
                <a:ea typeface="Georgia" pitchFamily="34" charset="-122"/>
                <a:cs typeface="Georgia" pitchFamily="34" charset="-120"/>
              </a:rPr>
              <a:t>40%</a:t>
            </a:r>
            <a:endParaRPr lang="en-US" sz="2400" dirty="0"/>
          </a:p>
        </p:txBody>
      </p:sp>
      <p:sp>
        <p:nvSpPr>
          <p:cNvPr id="8" name="Text 6"/>
          <p:cNvSpPr/>
          <p:nvPr/>
        </p:nvSpPr>
        <p:spPr>
          <a:xfrm>
            <a:off x="1737360" y="1572768"/>
            <a:ext cx="2286000" cy="548640"/>
          </a:xfrm>
          <a:prstGeom prst="rect">
            <a:avLst/>
          </a:prstGeom>
          <a:noFill/>
          <a:ln/>
        </p:spPr>
        <p:txBody>
          <a:bodyPr wrap="square" lIns="0" tIns="0" rIns="0" bIns="0" rtlCol="0" anchor="ctr"/>
          <a:lstStyle/>
          <a:p>
            <a:pPr indent="0" marL="0">
              <a:buNone/>
            </a:pPr>
            <a:r>
              <a:rPr lang="en-US" sz="1250" dirty="0">
                <a:solidFill>
                  <a:srgbClr val="5A6178"/>
                </a:solidFill>
                <a:latin typeface="Arial" pitchFamily="34" charset="0"/>
                <a:ea typeface="Arial" pitchFamily="34" charset="-122"/>
                <a:cs typeface="Arial" pitchFamily="34" charset="-120"/>
              </a:rPr>
              <a:t>separable (rank-one)</a:t>
            </a:r>
            <a:endParaRPr lang="en-US" sz="1250" dirty="0"/>
          </a:p>
        </p:txBody>
      </p:sp>
      <p:sp>
        <p:nvSpPr>
          <p:cNvPr id="9" name="Shape 7"/>
          <p:cNvSpPr/>
          <p:nvPr/>
        </p:nvSpPr>
        <p:spPr>
          <a:xfrm>
            <a:off x="4425696" y="1463040"/>
            <a:ext cx="3584448" cy="777240"/>
          </a:xfrm>
          <a:prstGeom prst="roundRect">
            <a:avLst>
              <a:gd name="adj" fmla="val 5882"/>
            </a:avLst>
          </a:prstGeom>
          <a:solidFill>
            <a:srgbClr val="FFFFFF"/>
          </a:solidFill>
          <a:ln w="9525">
            <a:solidFill>
              <a:srgbClr val="DCDFEC"/>
            </a:solidFill>
            <a:prstDash val="solid"/>
          </a:ln>
        </p:spPr>
      </p:sp>
      <p:sp>
        <p:nvSpPr>
          <p:cNvPr id="10" name="Text 8"/>
          <p:cNvSpPr/>
          <p:nvPr/>
        </p:nvSpPr>
        <p:spPr>
          <a:xfrm>
            <a:off x="4681728" y="1572768"/>
            <a:ext cx="914400" cy="548640"/>
          </a:xfrm>
          <a:prstGeom prst="rect">
            <a:avLst/>
          </a:prstGeom>
          <a:noFill/>
          <a:ln/>
        </p:spPr>
        <p:txBody>
          <a:bodyPr wrap="square" lIns="0" tIns="0" rIns="0" bIns="0" rtlCol="0" anchor="ctr"/>
          <a:lstStyle/>
          <a:p>
            <a:pPr indent="0" marL="0">
              <a:buNone/>
            </a:pPr>
            <a:r>
              <a:rPr lang="en-US" sz="2400" b="1" dirty="0">
                <a:solidFill>
                  <a:srgbClr val="2B3A8F"/>
                </a:solidFill>
                <a:latin typeface="Georgia" pitchFamily="34" charset="0"/>
                <a:ea typeface="Georgia" pitchFamily="34" charset="-122"/>
                <a:cs typeface="Georgia" pitchFamily="34" charset="-120"/>
              </a:rPr>
              <a:t>40%</a:t>
            </a:r>
            <a:endParaRPr lang="en-US" sz="2400" dirty="0"/>
          </a:p>
        </p:txBody>
      </p:sp>
      <p:sp>
        <p:nvSpPr>
          <p:cNvPr id="11" name="Text 9"/>
          <p:cNvSpPr/>
          <p:nvPr/>
        </p:nvSpPr>
        <p:spPr>
          <a:xfrm>
            <a:off x="5614416" y="1572768"/>
            <a:ext cx="2286000" cy="548640"/>
          </a:xfrm>
          <a:prstGeom prst="rect">
            <a:avLst/>
          </a:prstGeom>
          <a:noFill/>
          <a:ln/>
        </p:spPr>
        <p:txBody>
          <a:bodyPr wrap="square" lIns="0" tIns="0" rIns="0" bIns="0" rtlCol="0" anchor="ctr"/>
          <a:lstStyle/>
          <a:p>
            <a:pPr indent="0" marL="0">
              <a:buNone/>
            </a:pPr>
            <a:r>
              <a:rPr lang="en-US" sz="1250" dirty="0">
                <a:solidFill>
                  <a:srgbClr val="5A6178"/>
                </a:solidFill>
                <a:latin typeface="Arial" pitchFamily="34" charset="0"/>
                <a:ea typeface="Arial" pitchFamily="34" charset="-122"/>
                <a:cs typeface="Arial" pitchFamily="34" charset="-120"/>
              </a:rPr>
              <a:t>low-TT-rank</a:t>
            </a:r>
            <a:endParaRPr lang="en-US" sz="1250" dirty="0"/>
          </a:p>
        </p:txBody>
      </p:sp>
      <p:sp>
        <p:nvSpPr>
          <p:cNvPr id="12" name="Shape 10"/>
          <p:cNvSpPr/>
          <p:nvPr/>
        </p:nvSpPr>
        <p:spPr>
          <a:xfrm>
            <a:off x="8302752" y="1463040"/>
            <a:ext cx="3584448" cy="777240"/>
          </a:xfrm>
          <a:prstGeom prst="roundRect">
            <a:avLst>
              <a:gd name="adj" fmla="val 5882"/>
            </a:avLst>
          </a:prstGeom>
          <a:solidFill>
            <a:srgbClr val="FFFFFF"/>
          </a:solidFill>
          <a:ln w="9525">
            <a:solidFill>
              <a:srgbClr val="DCDFEC"/>
            </a:solidFill>
            <a:prstDash val="solid"/>
          </a:ln>
        </p:spPr>
      </p:sp>
      <p:sp>
        <p:nvSpPr>
          <p:cNvPr id="13" name="Text 11"/>
          <p:cNvSpPr/>
          <p:nvPr/>
        </p:nvSpPr>
        <p:spPr>
          <a:xfrm>
            <a:off x="8558784" y="1572768"/>
            <a:ext cx="914400" cy="548640"/>
          </a:xfrm>
          <a:prstGeom prst="rect">
            <a:avLst/>
          </a:prstGeom>
          <a:noFill/>
          <a:ln/>
        </p:spPr>
        <p:txBody>
          <a:bodyPr wrap="square" lIns="0" tIns="0" rIns="0" bIns="0" rtlCol="0" anchor="ctr"/>
          <a:lstStyle/>
          <a:p>
            <a:pPr indent="0" marL="0">
              <a:buNone/>
            </a:pPr>
            <a:r>
              <a:rPr lang="en-US" sz="2400" b="1" dirty="0">
                <a:solidFill>
                  <a:srgbClr val="B34A3F"/>
                </a:solidFill>
                <a:latin typeface="Georgia" pitchFamily="34" charset="0"/>
                <a:ea typeface="Georgia" pitchFamily="34" charset="-122"/>
                <a:cs typeface="Georgia" pitchFamily="34" charset="-120"/>
              </a:rPr>
              <a:t>20%</a:t>
            </a:r>
            <a:endParaRPr lang="en-US" sz="2400" dirty="0"/>
          </a:p>
        </p:txBody>
      </p:sp>
      <p:sp>
        <p:nvSpPr>
          <p:cNvPr id="14" name="Text 12"/>
          <p:cNvSpPr/>
          <p:nvPr/>
        </p:nvSpPr>
        <p:spPr>
          <a:xfrm>
            <a:off x="9491472" y="1572768"/>
            <a:ext cx="2286000" cy="548640"/>
          </a:xfrm>
          <a:prstGeom prst="rect">
            <a:avLst/>
          </a:prstGeom>
          <a:noFill/>
          <a:ln/>
        </p:spPr>
        <p:txBody>
          <a:bodyPr wrap="square" lIns="0" tIns="0" rIns="0" bIns="0" rtlCol="0" anchor="ctr"/>
          <a:lstStyle/>
          <a:p>
            <a:pPr indent="0" marL="0">
              <a:buNone/>
            </a:pPr>
            <a:r>
              <a:rPr lang="en-US" sz="1250" dirty="0">
                <a:solidFill>
                  <a:srgbClr val="5A6178"/>
                </a:solidFill>
                <a:latin typeface="Arial" pitchFamily="34" charset="0"/>
                <a:ea typeface="Arial" pitchFamily="34" charset="-122"/>
                <a:cs typeface="Arial" pitchFamily="34" charset="-120"/>
              </a:rPr>
              <a:t>dense — incompressible</a:t>
            </a:r>
            <a:endParaRPr lang="en-US" sz="1250" dirty="0"/>
          </a:p>
        </p:txBody>
      </p:sp>
      <p:sp>
        <p:nvSpPr>
          <p:cNvPr id="15" name="Text 13"/>
          <p:cNvSpPr/>
          <p:nvPr/>
        </p:nvSpPr>
        <p:spPr>
          <a:xfrm>
            <a:off x="548640" y="2395728"/>
            <a:ext cx="11091672" cy="566928"/>
          </a:xfrm>
          <a:prstGeom prst="rect">
            <a:avLst/>
          </a:prstGeom>
          <a:noFill/>
          <a:ln/>
        </p:spPr>
        <p:txBody>
          <a:bodyPr wrap="square" lIns="0" tIns="0" rIns="0" bIns="0" rtlCol="0" anchor="ctr"/>
          <a:lstStyle/>
          <a:p>
            <a:pPr indent="0" marL="0">
              <a:lnSpc>
                <a:spcPts val="1900"/>
              </a:lnSpc>
              <a:buNone/>
            </a:pPr>
            <a:r>
              <a:rPr lang="en-US" sz="1350" dirty="0">
                <a:solidFill>
                  <a:srgbClr val="5A6178"/>
                </a:solidFill>
                <a:latin typeface="Arial" pitchFamily="34" charset="0"/>
                <a:ea typeface="Arial" pitchFamily="34" charset="-122"/>
                <a:cs typeface="Arial" pitchFamily="34" charset="-120"/>
              </a:rPr>
              <a:t>Any method that constrains its atoms to a tensor format is fundamentally limited on the dense fifth of the data, however well it is optimized. At 12 dB, noise imposes no strong regularization — so the baseline's extra representational freedom converts directly into accuracy.</a:t>
            </a:r>
            <a:endParaRPr lang="en-US" sz="1350" dirty="0"/>
          </a:p>
        </p:txBody>
      </p:sp>
      <p:pic>
        <p:nvPicPr>
          <p:cNvPr id="16" name="Image 0" descr="/home/claude/work/figs/p10_Im4.png">    </p:cNvPr>
          <p:cNvPicPr>
            <a:picLocks noChangeAspect="1"/>
          </p:cNvPicPr>
          <p:nvPr/>
        </p:nvPicPr>
        <p:blipFill>
          <a:blip r:embed="rId1"/>
          <a:stretch>
            <a:fillRect/>
          </a:stretch>
        </p:blipFill>
        <p:spPr>
          <a:xfrm>
            <a:off x="1892808" y="3035808"/>
            <a:ext cx="8412480" cy="34930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RESULT 1 · ROBUSTNESS</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Constraint buys stability across initializations</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13</a:t>
            </a:r>
            <a:endParaRPr lang="en-US" sz="1200" dirty="0"/>
          </a:p>
        </p:txBody>
      </p:sp>
      <p:pic>
        <p:nvPicPr>
          <p:cNvPr id="6" name="Image 0" descr="/home/claude/work/figs/p12_Im7.png">    </p:cNvPr>
          <p:cNvPicPr>
            <a:picLocks noChangeAspect="1"/>
          </p:cNvPicPr>
          <p:nvPr/>
        </p:nvPicPr>
        <p:blipFill>
          <a:blip r:embed="rId1"/>
          <a:stretch>
            <a:fillRect/>
          </a:stretch>
        </p:blipFill>
        <p:spPr>
          <a:xfrm>
            <a:off x="548640" y="1600200"/>
            <a:ext cx="5669280" cy="3374136"/>
          </a:xfrm>
          <a:prstGeom prst="rect">
            <a:avLst/>
          </a:prstGeom>
        </p:spPr>
      </p:pic>
      <p:sp>
        <p:nvSpPr>
          <p:cNvPr id="7" name="Text 4"/>
          <p:cNvSpPr/>
          <p:nvPr/>
        </p:nvSpPr>
        <p:spPr>
          <a:xfrm>
            <a:off x="548640" y="5074920"/>
            <a:ext cx="5669280" cy="365760"/>
          </a:xfrm>
          <a:prstGeom prst="rect">
            <a:avLst/>
          </a:prstGeom>
          <a:noFill/>
          <a:ln/>
        </p:spPr>
        <p:txBody>
          <a:bodyPr wrap="square" lIns="0" tIns="0" rIns="0" bIns="0" rtlCol="0" anchor="ctr"/>
          <a:lstStyle/>
          <a:p>
            <a:pPr indent="0" marL="0">
              <a:buNone/>
            </a:pPr>
            <a:r>
              <a:rPr lang="en-US" sz="1100" dirty="0">
                <a:solidFill>
                  <a:srgbClr val="5A6178"/>
                </a:solidFill>
                <a:latin typeface="Arial" pitchFamily="34" charset="0"/>
                <a:ea typeface="Arial" pitchFamily="34" charset="-122"/>
                <a:cs typeface="Arial" pitchFamily="34" charset="-120"/>
              </a:rPr>
              <a:t>Taller box = more sensitive to which random seed you happened to get.</a:t>
            </a:r>
            <a:endParaRPr lang="en-US" sz="1100" dirty="0"/>
          </a:p>
        </p:txBody>
      </p:sp>
      <p:sp>
        <p:nvSpPr>
          <p:cNvPr id="8" name="Text 5"/>
          <p:cNvSpPr/>
          <p:nvPr/>
        </p:nvSpPr>
        <p:spPr>
          <a:xfrm>
            <a:off x="6537960" y="1719072"/>
            <a:ext cx="5120640" cy="23774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5A6178"/>
                </a:solidFill>
                <a:latin typeface="Arial" pitchFamily="34" charset="0"/>
                <a:ea typeface="Arial" pitchFamily="34" charset="-122"/>
                <a:cs typeface="Arial" pitchFamily="34" charset="-120"/>
              </a:rPr>
              <a:t>Each method is run over multiple seeds and the spread of resulting PSNR plotted as a box.</a:t>
            </a:r>
            <a:endParaRPr lang="en-US" sz="1400" dirty="0"/>
          </a:p>
          <a:p>
            <a:pPr marL="177800" indent="-177800">
              <a:spcAft>
                <a:spcPts val="800"/>
              </a:spcAft>
              <a:buSzPct val="100000"/>
              <a:buChar char="•"/>
            </a:pPr>
            <a:r>
              <a:rPr lang="en-US" sz="1400" dirty="0">
                <a:solidFill>
                  <a:srgbClr val="5A6178"/>
                </a:solidFill>
                <a:latin typeface="Arial" pitchFamily="34" charset="0"/>
                <a:ea typeface="Arial" pitchFamily="34" charset="-122"/>
                <a:cs typeface="Arial" pitchFamily="34" charset="-120"/>
              </a:rPr>
              <a:t>The unstructured baseline varies most; the constrained models converge to roughly the same answer regardless of initialization.</a:t>
            </a:r>
            <a:endParaRPr lang="en-US" sz="1400" dirty="0"/>
          </a:p>
          <a:p>
            <a:pPr marL="177800" indent="-177800">
              <a:spcAft>
                <a:spcPts val="800"/>
              </a:spcAft>
              <a:buSzPct val="100000"/>
              <a:buChar char="•"/>
            </a:pPr>
            <a:r>
              <a:rPr lang="en-US" sz="1400" dirty="0">
                <a:solidFill>
                  <a:srgbClr val="5A6178"/>
                </a:solidFill>
                <a:latin typeface="Arial" pitchFamily="34" charset="0"/>
                <a:ea typeface="Arial" pitchFamily="34" charset="-122"/>
                <a:cs typeface="Arial" pitchFamily="34" charset="-120"/>
              </a:rPr>
              <a:t>Structured decompositions with spatial meaning are therefore not just smaller — they are more reproducible.</a:t>
            </a:r>
            <a:endParaRPr lang="en-US" sz="1400" dirty="0"/>
          </a:p>
        </p:txBody>
      </p:sp>
      <p:sp>
        <p:nvSpPr>
          <p:cNvPr id="9" name="Shape 6"/>
          <p:cNvSpPr/>
          <p:nvPr/>
        </p:nvSpPr>
        <p:spPr>
          <a:xfrm>
            <a:off x="6537960" y="4160520"/>
            <a:ext cx="5120640" cy="1600200"/>
          </a:xfrm>
          <a:prstGeom prst="roundRect">
            <a:avLst>
              <a:gd name="adj" fmla="val 2857"/>
            </a:avLst>
          </a:prstGeom>
          <a:solidFill>
            <a:srgbClr val="101534"/>
          </a:solidFill>
          <a:ln w="9525">
            <a:solidFill>
              <a:srgbClr val="DCDFEC"/>
            </a:solidFill>
            <a:prstDash val="solid"/>
          </a:ln>
        </p:spPr>
      </p:sp>
      <p:sp>
        <p:nvSpPr>
          <p:cNvPr id="10" name="Text 7"/>
          <p:cNvSpPr/>
          <p:nvPr/>
        </p:nvSpPr>
        <p:spPr>
          <a:xfrm>
            <a:off x="6812280" y="4370832"/>
            <a:ext cx="4572000" cy="685800"/>
          </a:xfrm>
          <a:prstGeom prst="rect">
            <a:avLst/>
          </a:prstGeom>
          <a:noFill/>
          <a:ln/>
        </p:spPr>
        <p:txBody>
          <a:bodyPr wrap="square" lIns="0" tIns="0" rIns="0" bIns="0" rtlCol="0" anchor="ctr"/>
          <a:lstStyle/>
          <a:p>
            <a:pPr indent="0" marL="0">
              <a:lnSpc>
                <a:spcPts val="2200"/>
              </a:lnSpc>
              <a:buNone/>
            </a:pPr>
            <a:r>
              <a:rPr lang="en-US" sz="1600" b="1" i="1" dirty="0">
                <a:solidFill>
                  <a:srgbClr val="E8A13A"/>
                </a:solidFill>
                <a:latin typeface="Georgia" pitchFamily="34" charset="0"/>
                <a:ea typeface="Georgia" pitchFamily="34" charset="-122"/>
                <a:cs typeface="Georgia" pitchFamily="34" charset="-120"/>
              </a:rPr>
              <a:t>Seed variance is often a readout of optimiser quality, not model quality.</a:t>
            </a:r>
            <a:endParaRPr lang="en-US" sz="1600" dirty="0"/>
          </a:p>
        </p:txBody>
      </p:sp>
      <p:sp>
        <p:nvSpPr>
          <p:cNvPr id="11" name="Text 8"/>
          <p:cNvSpPr/>
          <p:nvPr/>
        </p:nvSpPr>
        <p:spPr>
          <a:xfrm>
            <a:off x="6812280" y="5074920"/>
            <a:ext cx="4572000" cy="566928"/>
          </a:xfrm>
          <a:prstGeom prst="rect">
            <a:avLst/>
          </a:prstGeom>
          <a:noFill/>
          <a:ln/>
        </p:spPr>
        <p:txBody>
          <a:bodyPr wrap="square" lIns="0" tIns="0" rIns="0" bIns="0" rtlCol="0" anchor="ctr"/>
          <a:lstStyle/>
          <a:p>
            <a:pPr indent="0" marL="0">
              <a:lnSpc>
                <a:spcPts val="1600"/>
              </a:lnSpc>
              <a:buNone/>
            </a:pPr>
            <a:r>
              <a:rPr lang="en-US" sz="1150" dirty="0">
                <a:solidFill>
                  <a:srgbClr val="CFD3E6"/>
                </a:solidFill>
                <a:latin typeface="Arial" pitchFamily="34" charset="0"/>
                <a:ea typeface="Arial" pitchFamily="34" charset="-122"/>
                <a:cs typeface="Arial" pitchFamily="34" charset="-120"/>
              </a:rPr>
              <a:t>Exact-linear-solve fitting — ALS blocks, TT-SVD truncations — yields tight bars; genuinely non-convex search yields wide ones.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RESULT 2 · REAL RGB</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On real patches the conclusion inverts</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14</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5577840" cy="914400"/>
        </p:xfrm>
        <a:graphic>
          <a:graphicData uri="http://schemas.openxmlformats.org/drawingml/2006/table">
            <a:tbl>
              <a:tblPr/>
              <a:tblGrid>
                <a:gridCol w="1645920"/>
                <a:gridCol w="1280160"/>
                <a:gridCol w="1280160"/>
                <a:gridCol w="1371600"/>
              </a:tblGrid>
              <a:tr h="36576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Model</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Params</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r" indent="0" marL="0">
                        <a:buNone/>
                      </a:pPr>
                      <a:r>
                        <a:rPr lang="en-US" sz="1150" b="1" dirty="0">
                          <a:solidFill>
                            <a:srgbClr val="FFFFFF"/>
                          </a:solidFill>
                          <a:latin typeface="Arial" pitchFamily="34" charset="0"/>
                          <a:ea typeface="Arial" pitchFamily="34" charset="-122"/>
                          <a:cs typeface="Arial" pitchFamily="34" charset="-120"/>
                        </a:rPr>
                        <a:t>Compr.</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PSNR (dB)</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Vectorized</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19,200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30.81</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01534"/>
                          </a:solidFill>
                          <a:latin typeface="Arial" pitchFamily="34" charset="0"/>
                          <a:ea typeface="Arial" pitchFamily="34" charset="-122"/>
                          <a:cs typeface="Arial" pitchFamily="34" charset="-120"/>
                        </a:rPr>
                        <a:t>CP</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1,900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10.1×</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31.65</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Tucker†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153</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125.5×</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30.74</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TT</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5,400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31.27</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7,600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31.27</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BTD</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4,600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4.2×</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31.37</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bl>
          </a:graphicData>
        </a:graphic>
      </p:graphicFrame>
      <p:sp>
        <p:nvSpPr>
          <p:cNvPr id="7" name="Text 4"/>
          <p:cNvSpPr/>
          <p:nvPr/>
        </p:nvSpPr>
        <p:spPr>
          <a:xfrm>
            <a:off x="548640" y="4279392"/>
            <a:ext cx="5577840" cy="256032"/>
          </a:xfrm>
          <a:prstGeom prst="rect">
            <a:avLst/>
          </a:prstGeom>
          <a:noFill/>
          <a:ln/>
        </p:spPr>
        <p:txBody>
          <a:bodyPr wrap="square" lIns="0" tIns="0" rIns="0" bIns="0" rtlCol="0" anchor="ctr"/>
          <a:lstStyle/>
          <a:p>
            <a:pPr indent="0" marL="0">
              <a:buNone/>
            </a:pPr>
            <a:r>
              <a:rPr lang="en-US" sz="1050" i="1" dirty="0">
                <a:solidFill>
                  <a:srgbClr val="5A6178"/>
                </a:solidFill>
                <a:latin typeface="Arial" pitchFamily="34" charset="0"/>
                <a:ea typeface="Arial" pitchFamily="34" charset="-122"/>
                <a:cs typeface="Arial" pitchFamily="34" charset="-120"/>
              </a:rPr>
              <a:t>† initial out-of-harness Tucker optimizer.</a:t>
            </a:r>
            <a:endParaRPr lang="en-US" sz="1050" dirty="0"/>
          </a:p>
        </p:txBody>
      </p:sp>
      <p:sp>
        <p:nvSpPr>
          <p:cNvPr id="8" name="Shape 5"/>
          <p:cNvSpPr/>
          <p:nvPr/>
        </p:nvSpPr>
        <p:spPr>
          <a:xfrm>
            <a:off x="548640" y="4617720"/>
            <a:ext cx="5577840" cy="1371600"/>
          </a:xfrm>
          <a:prstGeom prst="roundRect">
            <a:avLst>
              <a:gd name="adj" fmla="val 3333"/>
            </a:avLst>
          </a:prstGeom>
          <a:solidFill>
            <a:srgbClr val="101534"/>
          </a:solidFill>
          <a:ln w="9525">
            <a:solidFill>
              <a:srgbClr val="DCDFEC"/>
            </a:solidFill>
            <a:prstDash val="solid"/>
          </a:ln>
        </p:spPr>
      </p:sp>
      <p:sp>
        <p:nvSpPr>
          <p:cNvPr id="9" name="Text 6"/>
          <p:cNvSpPr/>
          <p:nvPr/>
        </p:nvSpPr>
        <p:spPr>
          <a:xfrm>
            <a:off x="822960" y="4754880"/>
            <a:ext cx="5029200" cy="411480"/>
          </a:xfrm>
          <a:prstGeom prst="rect">
            <a:avLst/>
          </a:prstGeom>
          <a:noFill/>
          <a:ln/>
        </p:spPr>
        <p:txBody>
          <a:bodyPr wrap="square" lIns="0" tIns="0" rIns="0" bIns="0" rtlCol="0" anchor="ctr"/>
          <a:lstStyle/>
          <a:p>
            <a:pPr indent="0" marL="0">
              <a:buNone/>
            </a:pPr>
            <a:r>
              <a:rPr lang="en-US" sz="2200" b="1" dirty="0">
                <a:solidFill>
                  <a:srgbClr val="E8A13A"/>
                </a:solidFill>
                <a:latin typeface="Georgia" pitchFamily="34" charset="0"/>
                <a:ea typeface="Georgia" pitchFamily="34" charset="-122"/>
                <a:cs typeface="Georgia" pitchFamily="34" charset="-120"/>
              </a:rPr>
              <a:t>31.65 dB  vs  30.81 dB</a:t>
            </a:r>
            <a:endParaRPr lang="en-US" sz="2200" dirty="0"/>
          </a:p>
        </p:txBody>
      </p:sp>
      <p:sp>
        <p:nvSpPr>
          <p:cNvPr id="10" name="Text 7"/>
          <p:cNvSpPr/>
          <p:nvPr/>
        </p:nvSpPr>
        <p:spPr>
          <a:xfrm>
            <a:off x="822960" y="5193792"/>
            <a:ext cx="5029200" cy="640080"/>
          </a:xfrm>
          <a:prstGeom prst="rect">
            <a:avLst/>
          </a:prstGeom>
          <a:noFill/>
          <a:ln/>
        </p:spPr>
        <p:txBody>
          <a:bodyPr wrap="square" lIns="0" tIns="0" rIns="0" bIns="0" rtlCol="0" anchor="ctr"/>
          <a:lstStyle/>
          <a:p>
            <a:pPr indent="0" marL="0">
              <a:lnSpc>
                <a:spcPts val="1700"/>
              </a:lnSpc>
              <a:buNone/>
            </a:pPr>
            <a:r>
              <a:rPr lang="en-US" sz="1200" dirty="0">
                <a:solidFill>
                  <a:srgbClr val="CFD3E6"/>
                </a:solidFill>
                <a:latin typeface="Arial" pitchFamily="34" charset="0"/>
                <a:ea typeface="Arial" pitchFamily="34" charset="-122"/>
                <a:cs typeface="Arial" pitchFamily="34" charset="-120"/>
              </a:rPr>
              <a:t>CP beats the unstructured baseline while using 10× fewer parameters. Every structured method except the initial Tucker does the same.</a:t>
            </a:r>
            <a:endParaRPr lang="en-US" sz="1200" dirty="0"/>
          </a:p>
        </p:txBody>
      </p:sp>
      <p:pic>
        <p:nvPicPr>
          <p:cNvPr id="11" name="Image 0" descr="/home/claude/work/figs/p14_Im9.png">    </p:cNvPr>
          <p:cNvPicPr>
            <a:picLocks noChangeAspect="1"/>
          </p:cNvPicPr>
          <p:nvPr/>
        </p:nvPicPr>
        <p:blipFill>
          <a:blip r:embed="rId1"/>
          <a:stretch>
            <a:fillRect/>
          </a:stretch>
        </p:blipFill>
        <p:spPr>
          <a:xfrm>
            <a:off x="6583680" y="1627632"/>
            <a:ext cx="4114800" cy="2532888"/>
          </a:xfrm>
          <a:prstGeom prst="rect">
            <a:avLst/>
          </a:prstGeom>
        </p:spPr>
      </p:pic>
      <p:sp>
        <p:nvSpPr>
          <p:cNvPr id="12" name="Text 8"/>
          <p:cNvSpPr/>
          <p:nvPr/>
        </p:nvSpPr>
        <p:spPr>
          <a:xfrm>
            <a:off x="6583680" y="4297680"/>
            <a:ext cx="5074920" cy="19202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5A6178"/>
                </a:solidFill>
                <a:latin typeface="Arial" pitchFamily="34" charset="0"/>
                <a:ea typeface="Arial" pitchFamily="34" charset="-122"/>
                <a:cs typeface="Arial" pitchFamily="34" charset="-120"/>
              </a:rPr>
              <a:t>Natural patches are smooth and approximately low-rank — neighbouring pixels correlate, colour channels correlate — so the dense component that punished tensor methods on synthetic data barely exists here.</a:t>
            </a:r>
            <a:endParaRPr lang="en-US" sz="1200" dirty="0"/>
          </a:p>
          <a:p>
            <a:pPr marL="177800" indent="-177800">
              <a:spcAft>
                <a:spcPts val="800"/>
              </a:spcAft>
              <a:buSzPct val="100000"/>
              <a:buChar char="•"/>
            </a:pPr>
            <a:r>
              <a:rPr lang="en-US" sz="1200" dirty="0">
                <a:solidFill>
                  <a:srgbClr val="5A6178"/>
                </a:solidFill>
                <a:latin typeface="Arial" pitchFamily="34" charset="0"/>
                <a:ea typeface="Arial" pitchFamily="34" charset="-122"/>
                <a:cs typeface="Arial" pitchFamily="34" charset="-120"/>
              </a:rPr>
              <a:t>With thousands more free parameters than the data's complexity needs, the vectorized dictionary spends them fitting noise. Classic over-fitting: capacity becomes a liability.</a:t>
            </a:r>
            <a:endParaRPr lang="en-US" sz="1200" dirty="0"/>
          </a:p>
          <a:p>
            <a:pPr marL="177800" indent="-177800">
              <a:spcAft>
                <a:spcPts val="800"/>
              </a:spcAft>
              <a:buSzPct val="100000"/>
              <a:buChar char="•"/>
            </a:pPr>
            <a:r>
              <a:rPr lang="en-US" sz="1200" dirty="0">
                <a:solidFill>
                  <a:srgbClr val="5A6178"/>
                </a:solidFill>
                <a:latin typeface="Arial" pitchFamily="34" charset="0"/>
                <a:ea typeface="Arial" pitchFamily="34" charset="-122"/>
                <a:cs typeface="Arial" pitchFamily="34" charset="-120"/>
              </a:rPr>
              <a:t>The structured methods cannot fit the noise even if they wanted to — their constraint accidentally functions as a regularizer.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RESULT 2 · DIAGNOSTICS</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Two things worth knowing before picking a format</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15</a:t>
            </a:r>
            <a:endParaRPr lang="en-US" sz="1200" dirty="0"/>
          </a:p>
        </p:txBody>
      </p:sp>
      <p:sp>
        <p:nvSpPr>
          <p:cNvPr id="6" name="Text 4"/>
          <p:cNvSpPr/>
          <p:nvPr/>
        </p:nvSpPr>
        <p:spPr>
          <a:xfrm>
            <a:off x="548640" y="1481328"/>
            <a:ext cx="5486400" cy="292608"/>
          </a:xfrm>
          <a:prstGeom prst="rect">
            <a:avLst/>
          </a:prstGeom>
          <a:noFill/>
          <a:ln/>
        </p:spPr>
        <p:txBody>
          <a:bodyPr wrap="square" lIns="0" tIns="0" rIns="0" bIns="0" rtlCol="0" anchor="ctr"/>
          <a:lstStyle/>
          <a:p>
            <a:pPr indent="0" marL="0">
              <a:buNone/>
            </a:pPr>
            <a:r>
              <a:rPr lang="en-US" sz="1900" b="1" dirty="0">
                <a:solidFill>
                  <a:srgbClr val="101534"/>
                </a:solidFill>
                <a:latin typeface="Georgia" pitchFamily="34" charset="0"/>
                <a:ea typeface="Georgia" pitchFamily="34" charset="-122"/>
                <a:cs typeface="Georgia" pitchFamily="34" charset="-120"/>
              </a:rPr>
              <a:t>CP instability</a:t>
            </a:r>
            <a:endParaRPr lang="en-US" sz="1900" dirty="0"/>
          </a:p>
        </p:txBody>
      </p:sp>
      <p:pic>
        <p:nvPicPr>
          <p:cNvPr id="7" name="Image 0" descr="/home/claude/work/figs/p14_Im10.png">    </p:cNvPr>
          <p:cNvPicPr>
            <a:picLocks noChangeAspect="1"/>
          </p:cNvPicPr>
          <p:nvPr/>
        </p:nvPicPr>
        <p:blipFill>
          <a:blip r:embed="rId1"/>
          <a:stretch>
            <a:fillRect/>
          </a:stretch>
        </p:blipFill>
        <p:spPr>
          <a:xfrm>
            <a:off x="548640" y="1847088"/>
            <a:ext cx="5623560" cy="2286000"/>
          </a:xfrm>
          <a:prstGeom prst="rect">
            <a:avLst/>
          </a:prstGeom>
        </p:spPr>
      </p:pic>
      <p:sp>
        <p:nvSpPr>
          <p:cNvPr id="8" name="Text 5"/>
          <p:cNvSpPr/>
          <p:nvPr/>
        </p:nvSpPr>
        <p:spPr>
          <a:xfrm>
            <a:off x="548640" y="4242816"/>
            <a:ext cx="5623560" cy="1371600"/>
          </a:xfrm>
          <a:prstGeom prst="rect">
            <a:avLst/>
          </a:prstGeom>
          <a:noFill/>
          <a:ln/>
        </p:spPr>
        <p:txBody>
          <a:bodyPr wrap="square" lIns="0" tIns="0" rIns="0" bIns="0" rtlCol="0" anchor="ctr"/>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A degeneracy ratio — component magnitudes over the norm of their sum — is 1.0 for rank-one atoms and climbs with rank, far worse under random init than SVD warm-start (2.35 vs 1.62 at rank 3). Reconstruction can look fine while the factorization is internally degenerate: a warning if the factors themselves go downstream.</a:t>
            </a:r>
            <a:endParaRPr lang="en-US" sz="1200" dirty="0"/>
          </a:p>
        </p:txBody>
      </p:sp>
      <p:sp>
        <p:nvSpPr>
          <p:cNvPr id="9" name="Text 6"/>
          <p:cNvSpPr/>
          <p:nvPr/>
        </p:nvSpPr>
        <p:spPr>
          <a:xfrm>
            <a:off x="6446520" y="1481328"/>
            <a:ext cx="5212080" cy="292608"/>
          </a:xfrm>
          <a:prstGeom prst="rect">
            <a:avLst/>
          </a:prstGeom>
          <a:noFill/>
          <a:ln/>
        </p:spPr>
        <p:txBody>
          <a:bodyPr wrap="square" lIns="0" tIns="0" rIns="0" bIns="0" rtlCol="0" anchor="ctr"/>
          <a:lstStyle/>
          <a:p>
            <a:pPr indent="0" marL="0">
              <a:buNone/>
            </a:pPr>
            <a:r>
              <a:rPr lang="en-US" sz="1900" b="1" dirty="0">
                <a:solidFill>
                  <a:srgbClr val="101534"/>
                </a:solidFill>
                <a:latin typeface="Georgia" pitchFamily="34" charset="0"/>
                <a:ea typeface="Georgia" pitchFamily="34" charset="-122"/>
                <a:cs typeface="Georgia" pitchFamily="34" charset="-120"/>
              </a:rPr>
              <a:t>BTD interpolates CP and Tucker</a:t>
            </a:r>
            <a:endParaRPr lang="en-US" sz="1900" dirty="0"/>
          </a:p>
        </p:txBody>
      </p:sp>
      <p:pic>
        <p:nvPicPr>
          <p:cNvPr id="10" name="Image 1" descr="/home/claude/work/figs/p15_Im11.png">    </p:cNvPr>
          <p:cNvPicPr>
            <a:picLocks noChangeAspect="1"/>
          </p:cNvPicPr>
          <p:nvPr/>
        </p:nvPicPr>
        <p:blipFill>
          <a:blip r:embed="rId2"/>
          <a:stretch>
            <a:fillRect/>
          </a:stretch>
        </p:blipFill>
        <p:spPr>
          <a:xfrm>
            <a:off x="6446520" y="1847088"/>
            <a:ext cx="4050792" cy="2286000"/>
          </a:xfrm>
          <a:prstGeom prst="rect">
            <a:avLst/>
          </a:prstGeom>
        </p:spPr>
      </p:pic>
      <p:sp>
        <p:nvSpPr>
          <p:cNvPr id="11" name="Text 7"/>
          <p:cNvSpPr/>
          <p:nvPr/>
        </p:nvSpPr>
        <p:spPr>
          <a:xfrm>
            <a:off x="6446520" y="4242816"/>
            <a:ext cx="5212080" cy="1371600"/>
          </a:xfrm>
          <a:prstGeom prst="rect">
            <a:avLst/>
          </a:prstGeom>
          <a:noFill/>
          <a:ln/>
        </p:spPr>
        <p:txBody>
          <a:bodyPr wrap="square" lIns="0" tIns="0" rIns="0" bIns="0" rtlCol="0" anchor="ctr"/>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Sweeping block rank L and block count traces a continuum: the L = 1, one-block configuration lands exactly on CP rank-one, confirming the endpoint identity, and the family runs toward Tucker. In this noisy regime the most constrained point is best — extra capacity fits noise.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534"/>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REFINEMENT · SECTION 6.3</a:t>
            </a:r>
            <a:endParaRPr lang="en-US" sz="1100" dirty="0"/>
          </a:p>
        </p:txBody>
      </p:sp>
      <p:sp>
        <p:nvSpPr>
          <p:cNvPr id="3" name="Text 1"/>
          <p:cNvSpPr/>
          <p:nvPr/>
        </p:nvSpPr>
        <p:spPr>
          <a:xfrm>
            <a:off x="640080" y="822960"/>
            <a:ext cx="10515600" cy="5943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An optimizer bug, not a structural verdict</a:t>
            </a:r>
            <a:endParaRPr lang="en-US" sz="3000" dirty="0"/>
          </a:p>
        </p:txBody>
      </p:sp>
      <p:sp>
        <p:nvSpPr>
          <p:cNvPr id="4" name="Shape 2"/>
          <p:cNvSpPr/>
          <p:nvPr/>
        </p:nvSpPr>
        <p:spPr>
          <a:xfrm>
            <a:off x="11256264" y="502920"/>
            <a:ext cx="384048" cy="384048"/>
          </a:xfrm>
          <a:prstGeom prst="roundRect">
            <a:avLst>
              <a:gd name="adj" fmla="val 19048"/>
            </a:avLst>
          </a:prstGeom>
          <a:solidFill>
            <a:srgbClr val="E8A13A"/>
          </a:solidFill>
          <a:ln/>
        </p:spPr>
      </p:sp>
      <p:sp>
        <p:nvSpPr>
          <p:cNvPr id="5" name="Text 3"/>
          <p:cNvSpPr/>
          <p:nvPr/>
        </p:nvSpPr>
        <p:spPr>
          <a:xfrm>
            <a:off x="11256264" y="502920"/>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16</a:t>
            </a:r>
            <a:endParaRPr lang="en-US" sz="1200" dirty="0"/>
          </a:p>
        </p:txBody>
      </p:sp>
      <p:sp>
        <p:nvSpPr>
          <p:cNvPr id="6" name="Text 4"/>
          <p:cNvSpPr/>
          <p:nvPr/>
        </p:nvSpPr>
        <p:spPr>
          <a:xfrm>
            <a:off x="640080" y="1627632"/>
            <a:ext cx="10972800" cy="566928"/>
          </a:xfrm>
          <a:prstGeom prst="rect">
            <a:avLst/>
          </a:prstGeom>
          <a:noFill/>
          <a:ln/>
        </p:spPr>
        <p:txBody>
          <a:bodyPr wrap="square" lIns="0" tIns="0" rIns="0" bIns="0" rtlCol="0" anchor="ctr"/>
          <a:lstStyle/>
          <a:p>
            <a:pPr indent="0" marL="0">
              <a:lnSpc>
                <a:spcPts val="2000"/>
              </a:lnSpc>
              <a:buNone/>
            </a:pPr>
            <a:r>
              <a:rPr lang="en-US" sz="1400" dirty="0">
                <a:solidFill>
                  <a:srgbClr val="CFD3E6"/>
                </a:solidFill>
                <a:latin typeface="Arial" pitchFamily="34" charset="0"/>
                <a:ea typeface="Arial" pitchFamily="34" charset="-122"/>
                <a:cs typeface="Arial" pitchFamily="34" charset="-120"/>
              </a:rPr>
              <a:t>The original Tucker-DL failed on an objective mismatch: it learned its three mode dictionaries in isolation, Y₍₁₎ ≈ U₁X₁ and so on — but a Tucker dictionary is never seen alone, only as D = U₃ ⊗ U₂ ⊗ U₁.</a:t>
            </a:r>
            <a:endParaRPr lang="en-US" sz="1400" dirty="0"/>
          </a:p>
        </p:txBody>
      </p:sp>
      <p:sp>
        <p:nvSpPr>
          <p:cNvPr id="7" name="Text 5"/>
          <p:cNvSpPr/>
          <p:nvPr/>
        </p:nvSpPr>
        <p:spPr>
          <a:xfrm>
            <a:off x="640080" y="2267712"/>
            <a:ext cx="10972800" cy="566928"/>
          </a:xfrm>
          <a:prstGeom prst="rect">
            <a:avLst/>
          </a:prstGeom>
          <a:noFill/>
          <a:ln/>
        </p:spPr>
        <p:txBody>
          <a:bodyPr wrap="square" lIns="0" tIns="0" rIns="0" bIns="0" rtlCol="0" anchor="ctr"/>
          <a:lstStyle/>
          <a:p>
            <a:pPr indent="0" marL="0">
              <a:lnSpc>
                <a:spcPts val="2000"/>
              </a:lnSpc>
              <a:buNone/>
            </a:pPr>
            <a:r>
              <a:rPr lang="en-US" sz="1400" dirty="0">
                <a:solidFill>
                  <a:srgbClr val="CFD3E6"/>
                </a:solidFill>
                <a:latin typeface="Arial" pitchFamily="34" charset="0"/>
                <a:ea typeface="Arial" pitchFamily="34" charset="-122"/>
                <a:cs typeface="Arial" pitchFamily="34" charset="-120"/>
              </a:rPr>
              <a:t>The fix: keep OMP against the Kronecker dictionary, then update by separable ALS — solve U₁ with (U₂,U₃) fixed, then U₂, then U₃ — where each sub-problem is an exact closed-form least-squares block.</a:t>
            </a:r>
            <a:endParaRPr lang="en-US" sz="1400" dirty="0"/>
          </a:p>
        </p:txBody>
      </p:sp>
      <p:sp>
        <p:nvSpPr>
          <p:cNvPr id="8" name="Shape 6"/>
          <p:cNvSpPr/>
          <p:nvPr/>
        </p:nvSpPr>
        <p:spPr>
          <a:xfrm>
            <a:off x="640080" y="3108960"/>
            <a:ext cx="5349240" cy="1828800"/>
          </a:xfrm>
          <a:prstGeom prst="roundRect">
            <a:avLst>
              <a:gd name="adj" fmla="val 3000"/>
            </a:avLst>
          </a:prstGeom>
          <a:solidFill>
            <a:srgbClr val="1B2149"/>
          </a:solidFill>
          <a:ln w="12700">
            <a:solidFill>
              <a:srgbClr val="2E3766"/>
            </a:solidFill>
            <a:prstDash val="solid"/>
          </a:ln>
        </p:spPr>
      </p:sp>
      <p:sp>
        <p:nvSpPr>
          <p:cNvPr id="9" name="Text 7"/>
          <p:cNvSpPr/>
          <p:nvPr/>
        </p:nvSpPr>
        <p:spPr>
          <a:xfrm>
            <a:off x="960120" y="3291840"/>
            <a:ext cx="4663440" cy="256032"/>
          </a:xfrm>
          <a:prstGeom prst="rect">
            <a:avLst/>
          </a:prstGeom>
          <a:noFill/>
          <a:ln/>
        </p:spPr>
        <p:txBody>
          <a:bodyPr wrap="square" lIns="0" tIns="0" rIns="0" bIns="0" rtlCol="0" anchor="ctr"/>
          <a:lstStyle/>
          <a:p>
            <a:pPr indent="0" marL="0">
              <a:buNone/>
            </a:pPr>
            <a:r>
              <a:rPr lang="en-US" sz="1050" b="1" spc="150" kern="0" dirty="0">
                <a:solidFill>
                  <a:srgbClr val="E8A13A"/>
                </a:solidFill>
                <a:latin typeface="Arial" pitchFamily="34" charset="0"/>
                <a:ea typeface="Arial" pitchFamily="34" charset="-122"/>
                <a:cs typeface="Arial" pitchFamily="34" charset="-120"/>
              </a:rPr>
              <a:t>RGB PATCHES</a:t>
            </a:r>
            <a:endParaRPr lang="en-US" sz="1050" dirty="0"/>
          </a:p>
        </p:txBody>
      </p:sp>
      <p:sp>
        <p:nvSpPr>
          <p:cNvPr id="10" name="Text 8"/>
          <p:cNvSpPr/>
          <p:nvPr/>
        </p:nvSpPr>
        <p:spPr>
          <a:xfrm>
            <a:off x="960120" y="3639312"/>
            <a:ext cx="1737360" cy="502920"/>
          </a:xfrm>
          <a:prstGeom prst="rect">
            <a:avLst/>
          </a:prstGeom>
          <a:noFill/>
          <a:ln/>
        </p:spPr>
        <p:txBody>
          <a:bodyPr wrap="square" lIns="0" tIns="0" rIns="0" bIns="0" rtlCol="0" anchor="ctr"/>
          <a:lstStyle/>
          <a:p>
            <a:pPr indent="0" marL="0">
              <a:buNone/>
            </a:pPr>
            <a:r>
              <a:rPr lang="en-US" sz="2400" strike="sngStrike" dirty="0">
                <a:solidFill>
                  <a:srgbClr val="8A90B0"/>
                </a:solidFill>
                <a:latin typeface="Georgia" pitchFamily="34" charset="0"/>
                <a:ea typeface="Georgia" pitchFamily="34" charset="-122"/>
                <a:cs typeface="Georgia" pitchFamily="34" charset="-120"/>
              </a:rPr>
              <a:t>30.66 dB</a:t>
            </a:r>
            <a:endParaRPr lang="en-US" sz="2400" dirty="0"/>
          </a:p>
        </p:txBody>
      </p:sp>
      <p:sp>
        <p:nvSpPr>
          <p:cNvPr id="11" name="Text 9"/>
          <p:cNvSpPr/>
          <p:nvPr/>
        </p:nvSpPr>
        <p:spPr>
          <a:xfrm>
            <a:off x="2697480" y="3639312"/>
            <a:ext cx="548640" cy="502920"/>
          </a:xfrm>
          <a:prstGeom prst="rect">
            <a:avLst/>
          </a:prstGeom>
          <a:noFill/>
          <a:ln/>
        </p:spPr>
        <p:txBody>
          <a:bodyPr wrap="square" lIns="0" tIns="0" rIns="0" bIns="0" rtlCol="0" anchor="ctr"/>
          <a:lstStyle/>
          <a:p>
            <a:pPr algn="ctr" indent="0" marL="0">
              <a:buNone/>
            </a:pPr>
            <a:r>
              <a:rPr lang="en-US" sz="2000" b="1" dirty="0">
                <a:solidFill>
                  <a:srgbClr val="E8A13A"/>
                </a:solidFill>
                <a:latin typeface="Arial" pitchFamily="34" charset="0"/>
                <a:ea typeface="Arial" pitchFamily="34" charset="-122"/>
                <a:cs typeface="Arial" pitchFamily="34" charset="-120"/>
              </a:rPr>
              <a:t>→</a:t>
            </a:r>
            <a:endParaRPr lang="en-US" sz="2000" dirty="0"/>
          </a:p>
        </p:txBody>
      </p:sp>
      <p:sp>
        <p:nvSpPr>
          <p:cNvPr id="12" name="Text 10"/>
          <p:cNvSpPr/>
          <p:nvPr/>
        </p:nvSpPr>
        <p:spPr>
          <a:xfrm>
            <a:off x="3246120" y="3639312"/>
            <a:ext cx="246888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32.16 ± 0.09 dB</a:t>
            </a:r>
            <a:endParaRPr lang="en-US" sz="2400" dirty="0"/>
          </a:p>
        </p:txBody>
      </p:sp>
      <p:sp>
        <p:nvSpPr>
          <p:cNvPr id="13" name="Text 11"/>
          <p:cNvSpPr/>
          <p:nvPr/>
        </p:nvSpPr>
        <p:spPr>
          <a:xfrm>
            <a:off x="960120" y="4224528"/>
            <a:ext cx="4663440" cy="548640"/>
          </a:xfrm>
          <a:prstGeom prst="rect">
            <a:avLst/>
          </a:prstGeom>
          <a:noFill/>
          <a:ln/>
        </p:spPr>
        <p:txBody>
          <a:bodyPr wrap="square" lIns="0" tIns="0" rIns="0" bIns="0" rtlCol="0" anchor="ctr"/>
          <a:lstStyle/>
          <a:p>
            <a:pPr indent="0" marL="0">
              <a:lnSpc>
                <a:spcPts val="1700"/>
              </a:lnSpc>
              <a:buNone/>
            </a:pPr>
            <a:r>
              <a:rPr lang="en-US" sz="1200" dirty="0">
                <a:solidFill>
                  <a:srgbClr val="9AA0BC"/>
                </a:solidFill>
                <a:latin typeface="Arial" pitchFamily="34" charset="0"/>
                <a:ea typeface="Arial" pitchFamily="34" charset="-122"/>
                <a:cs typeface="Arial" pitchFamily="34" charset="-120"/>
              </a:rPr>
              <a:t>at an identical parameter budget — quality and seed stability improved together.</a:t>
            </a:r>
            <a:endParaRPr lang="en-US" sz="1200" dirty="0"/>
          </a:p>
        </p:txBody>
      </p:sp>
      <p:sp>
        <p:nvSpPr>
          <p:cNvPr id="14" name="Shape 12"/>
          <p:cNvSpPr/>
          <p:nvPr/>
        </p:nvSpPr>
        <p:spPr>
          <a:xfrm>
            <a:off x="6263640" y="3108960"/>
            <a:ext cx="5349240" cy="1828800"/>
          </a:xfrm>
          <a:prstGeom prst="roundRect">
            <a:avLst>
              <a:gd name="adj" fmla="val 3000"/>
            </a:avLst>
          </a:prstGeom>
          <a:solidFill>
            <a:srgbClr val="1B2149"/>
          </a:solidFill>
          <a:ln w="12700">
            <a:solidFill>
              <a:srgbClr val="2E3766"/>
            </a:solidFill>
            <a:prstDash val="solid"/>
          </a:ln>
        </p:spPr>
      </p:sp>
      <p:sp>
        <p:nvSpPr>
          <p:cNvPr id="15" name="Text 13"/>
          <p:cNvSpPr/>
          <p:nvPr/>
        </p:nvSpPr>
        <p:spPr>
          <a:xfrm>
            <a:off x="6583680" y="3291840"/>
            <a:ext cx="4663440" cy="256032"/>
          </a:xfrm>
          <a:prstGeom prst="rect">
            <a:avLst/>
          </a:prstGeom>
          <a:noFill/>
          <a:ln/>
        </p:spPr>
        <p:txBody>
          <a:bodyPr wrap="square" lIns="0" tIns="0" rIns="0" bIns="0" rtlCol="0" anchor="ctr"/>
          <a:lstStyle/>
          <a:p>
            <a:pPr indent="0" marL="0">
              <a:buNone/>
            </a:pPr>
            <a:r>
              <a:rPr lang="en-US" sz="1050" b="1" spc="150" kern="0" dirty="0">
                <a:solidFill>
                  <a:srgbClr val="E8A13A"/>
                </a:solidFill>
                <a:latin typeface="Arial" pitchFamily="34" charset="0"/>
                <a:ea typeface="Arial" pitchFamily="34" charset="-122"/>
                <a:cs typeface="Arial" pitchFamily="34" charset="-120"/>
              </a:rPr>
              <a:t>SYNTHETIC DATA</a:t>
            </a:r>
            <a:endParaRPr lang="en-US" sz="1050" dirty="0"/>
          </a:p>
        </p:txBody>
      </p:sp>
      <p:sp>
        <p:nvSpPr>
          <p:cNvPr id="16" name="Text 14"/>
          <p:cNvSpPr/>
          <p:nvPr/>
        </p:nvSpPr>
        <p:spPr>
          <a:xfrm>
            <a:off x="6583680" y="3639312"/>
            <a:ext cx="1737360" cy="502920"/>
          </a:xfrm>
          <a:prstGeom prst="rect">
            <a:avLst/>
          </a:prstGeom>
          <a:noFill/>
          <a:ln/>
        </p:spPr>
        <p:txBody>
          <a:bodyPr wrap="square" lIns="0" tIns="0" rIns="0" bIns="0" rtlCol="0" anchor="ctr"/>
          <a:lstStyle/>
          <a:p>
            <a:pPr indent="0" marL="0">
              <a:buNone/>
            </a:pPr>
            <a:r>
              <a:rPr lang="en-US" sz="2400" strike="sngStrike" dirty="0">
                <a:solidFill>
                  <a:srgbClr val="8A90B0"/>
                </a:solidFill>
                <a:latin typeface="Georgia" pitchFamily="34" charset="0"/>
                <a:ea typeface="Georgia" pitchFamily="34" charset="-122"/>
                <a:cs typeface="Georgia" pitchFamily="34" charset="-120"/>
              </a:rPr>
              <a:t>27.01 dB</a:t>
            </a:r>
            <a:endParaRPr lang="en-US" sz="2400" dirty="0"/>
          </a:p>
        </p:txBody>
      </p:sp>
      <p:sp>
        <p:nvSpPr>
          <p:cNvPr id="17" name="Text 15"/>
          <p:cNvSpPr/>
          <p:nvPr/>
        </p:nvSpPr>
        <p:spPr>
          <a:xfrm>
            <a:off x="8321040" y="3639312"/>
            <a:ext cx="548640" cy="502920"/>
          </a:xfrm>
          <a:prstGeom prst="rect">
            <a:avLst/>
          </a:prstGeom>
          <a:noFill/>
          <a:ln/>
        </p:spPr>
        <p:txBody>
          <a:bodyPr wrap="square" lIns="0" tIns="0" rIns="0" bIns="0" rtlCol="0" anchor="ctr"/>
          <a:lstStyle/>
          <a:p>
            <a:pPr algn="ctr" indent="0" marL="0">
              <a:buNone/>
            </a:pPr>
            <a:r>
              <a:rPr lang="en-US" sz="2000" b="1" dirty="0">
                <a:solidFill>
                  <a:srgbClr val="E8A13A"/>
                </a:solidFill>
                <a:latin typeface="Arial" pitchFamily="34" charset="0"/>
                <a:ea typeface="Arial" pitchFamily="34" charset="-122"/>
                <a:cs typeface="Arial" pitchFamily="34" charset="-120"/>
              </a:rPr>
              <a:t>→</a:t>
            </a:r>
            <a:endParaRPr lang="en-US" sz="2000" dirty="0"/>
          </a:p>
        </p:txBody>
      </p:sp>
      <p:sp>
        <p:nvSpPr>
          <p:cNvPr id="18" name="Text 16"/>
          <p:cNvSpPr/>
          <p:nvPr/>
        </p:nvSpPr>
        <p:spPr>
          <a:xfrm>
            <a:off x="8869680" y="3639312"/>
            <a:ext cx="246888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29.45 ± 0.69 dB</a:t>
            </a:r>
            <a:endParaRPr lang="en-US" sz="2400" dirty="0"/>
          </a:p>
        </p:txBody>
      </p:sp>
      <p:sp>
        <p:nvSpPr>
          <p:cNvPr id="19" name="Text 17"/>
          <p:cNvSpPr/>
          <p:nvPr/>
        </p:nvSpPr>
        <p:spPr>
          <a:xfrm>
            <a:off x="6583680" y="4224528"/>
            <a:ext cx="4663440" cy="548640"/>
          </a:xfrm>
          <a:prstGeom prst="rect">
            <a:avLst/>
          </a:prstGeom>
          <a:noFill/>
          <a:ln/>
        </p:spPr>
        <p:txBody>
          <a:bodyPr wrap="square" lIns="0" tIns="0" rIns="0" bIns="0" rtlCol="0" anchor="ctr"/>
          <a:lstStyle/>
          <a:p>
            <a:pPr indent="0" marL="0">
              <a:lnSpc>
                <a:spcPts val="1700"/>
              </a:lnSpc>
              <a:buNone/>
            </a:pPr>
            <a:r>
              <a:rPr lang="en-US" sz="1200" dirty="0">
                <a:solidFill>
                  <a:srgbClr val="9AA0BC"/>
                </a:solidFill>
                <a:latin typeface="Arial" pitchFamily="34" charset="0"/>
                <a:ea typeface="Arial" pitchFamily="34" charset="-122"/>
                <a:cs typeface="Arial" pitchFamily="34" charset="-120"/>
              </a:rPr>
              <a:t>at an identical parameter budget — quality and seed stability improved together.</a:t>
            </a:r>
            <a:endParaRPr lang="en-US" sz="1200" dirty="0"/>
          </a:p>
        </p:txBody>
      </p:sp>
      <p:sp>
        <p:nvSpPr>
          <p:cNvPr id="20" name="Text 18"/>
          <p:cNvSpPr/>
          <p:nvPr/>
        </p:nvSpPr>
        <p:spPr>
          <a:xfrm>
            <a:off x="640080" y="5230368"/>
            <a:ext cx="10972800" cy="640080"/>
          </a:xfrm>
          <a:prstGeom prst="rect">
            <a:avLst/>
          </a:prstGeom>
          <a:noFill/>
          <a:ln/>
        </p:spPr>
        <p:txBody>
          <a:bodyPr wrap="square" lIns="0" tIns="0" rIns="0" bIns="0" rtlCol="0" anchor="ctr"/>
          <a:lstStyle/>
          <a:p>
            <a:pPr indent="0" marL="0">
              <a:lnSpc>
                <a:spcPts val="2200"/>
              </a:lnSpc>
              <a:buNone/>
            </a:pPr>
            <a:r>
              <a:rPr lang="en-US" sz="1500" b="1" i="1" dirty="0">
                <a:solidFill>
                  <a:srgbClr val="E8A13A"/>
                </a:solidFill>
                <a:latin typeface="Georgia" pitchFamily="34" charset="0"/>
                <a:ea typeface="Georgia" pitchFamily="34" charset="-122"/>
                <a:cs typeface="Georgia" pitchFamily="34" charset="-120"/>
              </a:rPr>
              <a:t>A fairness correction to one optimizer moved Tucker from last place to a Pareto-dominant winner at identical size — implementation confounds can dominate structural differences.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RANKING APPLIED</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Efficiency ranking with the corrected Tucker</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17</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989320" cy="914400"/>
        </p:xfrm>
        <a:graphic>
          <a:graphicData uri="http://schemas.openxmlformats.org/drawingml/2006/table">
            <a:tbl>
              <a:tblPr/>
              <a:tblGrid>
                <a:gridCol w="1417320"/>
                <a:gridCol w="777240"/>
                <a:gridCol w="914400"/>
                <a:gridCol w="731520"/>
                <a:gridCol w="777240"/>
                <a:gridCol w="548640"/>
                <a:gridCol w="822960"/>
              </a:tblGrid>
              <a:tr h="36576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Model</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PSNR</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r" indent="0" marL="0">
                        <a:buNone/>
                      </a:pPr>
                      <a:r>
                        <a:rPr lang="en-US" sz="1150" b="1" dirty="0">
                          <a:solidFill>
                            <a:srgbClr val="FFFFFF"/>
                          </a:solidFill>
                          <a:latin typeface="Arial" pitchFamily="34" charset="0"/>
                          <a:ea typeface="Arial" pitchFamily="34" charset="-122"/>
                          <a:cs typeface="Arial" pitchFamily="34" charset="-120"/>
                        </a:rPr>
                        <a:t>Params</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E</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Pareto</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Tier</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Bal.</a:t>
                      </a:r>
                      <a:endParaRPr lang="en-US" sz="1150" dirty="0">
                        <a:latin typeface="Arial" charset="0"/>
                        <a:ea typeface="Arial" charset="0"/>
                        <a:cs typeface="Arial" charset="0"/>
                      </a:endParaRPr>
                    </a:p>
                  </a:txBody>
                  <a:tcPr marL="101600" marR="101600" marT="50800" marB="508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101534"/>
                    </a:solidFill>
                  </a:tcPr>
                </a:tc>
              </a:tr>
              <a:tr h="365760">
                <a:tc>
                  <a:txBody>
                    <a:bodyPr/>
                    <a:lstStyle/>
                    <a:p>
                      <a:pPr algn="l" indent="0" marL="0">
                        <a:buNone/>
                      </a:pPr>
                      <a:r>
                        <a:rPr lang="en-US" sz="1200" b="1" dirty="0">
                          <a:solidFill>
                            <a:srgbClr val="101534"/>
                          </a:solidFill>
                          <a:latin typeface="Arial" pitchFamily="34" charset="0"/>
                          <a:ea typeface="Arial" pitchFamily="34" charset="-122"/>
                          <a:cs typeface="Arial" pitchFamily="34" charset="-120"/>
                        </a:rPr>
                        <a:t>Tucker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32.16</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153</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14.72</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c>
                  <a:txBody>
                    <a:bodyPr/>
                    <a:lstStyle/>
                    <a:p>
                      <a:pPr algn="r" indent="0" marL="0">
                        <a:buNone/>
                      </a:pPr>
                      <a:r>
                        <a:rPr lang="en-US" sz="1200" dirty="0">
                          <a:solidFill>
                            <a:srgbClr val="101534"/>
                          </a:solidFill>
                          <a:latin typeface="Arial" pitchFamily="34" charset="0"/>
                          <a:ea typeface="Arial" pitchFamily="34" charset="-122"/>
                          <a:cs typeface="Arial" pitchFamily="34" charset="-120"/>
                        </a:rPr>
                        <a:t>0.892</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DF3E2"/>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CP</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31.71</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1,900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9.67</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0.429</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TT</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31.28</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5,400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8.38</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0.389</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BTD</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31.38</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4,600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8.57</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0.385</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TR</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31.31</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7,600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8.07</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0.306</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01534"/>
                          </a:solidFill>
                          <a:latin typeface="Arial" pitchFamily="34" charset="0"/>
                          <a:ea typeface="Arial" pitchFamily="34" charset="-122"/>
                          <a:cs typeface="Arial" pitchFamily="34" charset="-120"/>
                        </a:rPr>
                        <a:t>Vectorized</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30.80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19,200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7.19</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D</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c>
                  <a:txBody>
                    <a:bodyPr/>
                    <a:lstStyle/>
                    <a:p>
                      <a:pPr algn="r" indent="0" marL="0">
                        <a:buNone/>
                      </a:pPr>
                      <a:r>
                        <a:rPr lang="en-US" sz="1200" dirty="0">
                          <a:solidFill>
                            <a:srgbClr val="5A6178"/>
                          </a:solidFill>
                          <a:latin typeface="Arial" pitchFamily="34" charset="0"/>
                          <a:ea typeface="Arial" pitchFamily="34" charset="-122"/>
                          <a:cs typeface="Arial" pitchFamily="34" charset="-120"/>
                        </a:rPr>
                        <a:t>0.230</a:t>
                      </a:r>
                      <a:endParaRPr lang="en-US" sz="1200" dirty="0">
                        <a:latin typeface="Arial" charset="0"/>
                        <a:ea typeface="Arial" charset="0"/>
                        <a:cs typeface="Arial" charset="0"/>
                      </a:endParaRPr>
                    </a:p>
                  </a:txBody>
                  <a:tcPr marL="76200" marR="76200" marT="38100" marB="38100" anchor="ctr">
                    <a:lnL w="6350" cap="flat" cmpd="sng" algn="ctr">
                      <a:solidFill>
                        <a:srgbClr val="DCDFEC"/>
                      </a:solidFill>
                      <a:prstDash val="solid"/>
                      <a:round/>
                      <a:headEnd type="none" w="med" len="med"/>
                      <a:tailEnd type="none" w="med" len="med"/>
                    </a:lnL>
                    <a:lnR w="6350" cap="flat" cmpd="sng" algn="ctr">
                      <a:solidFill>
                        <a:srgbClr val="DCDFEC"/>
                      </a:solidFill>
                      <a:prstDash val="solid"/>
                      <a:round/>
                      <a:headEnd type="none" w="med" len="med"/>
                      <a:tailEnd type="none" w="med" len="med"/>
                    </a:lnR>
                    <a:lnT w="6350" cap="flat" cmpd="sng" algn="ctr">
                      <a:solidFill>
                        <a:srgbClr val="DCDFEC"/>
                      </a:solidFill>
                      <a:prstDash val="solid"/>
                      <a:round/>
                      <a:headEnd type="none" w="med" len="med"/>
                      <a:tailEnd type="none" w="med" len="med"/>
                    </a:lnT>
                    <a:lnB w="6350" cap="flat" cmpd="sng" algn="ctr">
                      <a:solidFill>
                        <a:srgbClr val="DCDFEC"/>
                      </a:solidFill>
                      <a:prstDash val="solid"/>
                      <a:round/>
                      <a:headEnd type="none" w="med" len="med"/>
                      <a:tailEnd type="none" w="med" len="med"/>
                    </a:lnB>
                    <a:solidFill>
                      <a:srgbClr val="F3F4F9"/>
                    </a:solidFill>
                  </a:tcPr>
                </a:tc>
              </a:tr>
            </a:tbl>
          </a:graphicData>
        </a:graphic>
      </p:graphicFrame>
      <p:sp>
        <p:nvSpPr>
          <p:cNvPr id="7" name="Shape 4"/>
          <p:cNvSpPr/>
          <p:nvPr/>
        </p:nvSpPr>
        <p:spPr>
          <a:xfrm>
            <a:off x="548640" y="4224528"/>
            <a:ext cx="5989320" cy="1783080"/>
          </a:xfrm>
          <a:prstGeom prst="roundRect">
            <a:avLst>
              <a:gd name="adj" fmla="val 2564"/>
            </a:avLst>
          </a:prstGeom>
          <a:solidFill>
            <a:srgbClr val="FDF3E2"/>
          </a:solidFill>
          <a:ln w="9525">
            <a:solidFill>
              <a:srgbClr val="DCDFEC"/>
            </a:solidFill>
            <a:prstDash val="solid"/>
          </a:ln>
        </p:spPr>
      </p:sp>
      <p:sp>
        <p:nvSpPr>
          <p:cNvPr id="8" name="Text 5"/>
          <p:cNvSpPr/>
          <p:nvPr/>
        </p:nvSpPr>
        <p:spPr>
          <a:xfrm>
            <a:off x="822960" y="4389120"/>
            <a:ext cx="5486400" cy="292608"/>
          </a:xfrm>
          <a:prstGeom prst="rect">
            <a:avLst/>
          </a:prstGeom>
          <a:noFill/>
          <a:ln/>
        </p:spPr>
        <p:txBody>
          <a:bodyPr wrap="square" lIns="0" tIns="0" rIns="0" bIns="0" rtlCol="0" anchor="ctr"/>
          <a:lstStyle/>
          <a:p>
            <a:pPr indent="0" marL="0">
              <a:buNone/>
            </a:pPr>
            <a:r>
              <a:rPr lang="en-US" sz="1500" b="1" dirty="0">
                <a:solidFill>
                  <a:srgbClr val="101534"/>
                </a:solidFill>
                <a:latin typeface="Georgia" pitchFamily="34" charset="0"/>
                <a:ea typeface="Georgia" pitchFamily="34" charset="-122"/>
                <a:cs typeface="Georgia" pitchFamily="34" charset="-120"/>
              </a:rPr>
              <a:t>A caveat that keeps the comparison honest</a:t>
            </a:r>
            <a:endParaRPr lang="en-US" sz="1500" dirty="0"/>
          </a:p>
        </p:txBody>
      </p:sp>
      <p:sp>
        <p:nvSpPr>
          <p:cNvPr id="9" name="Text 6"/>
          <p:cNvSpPr/>
          <p:nvPr/>
        </p:nvSpPr>
        <p:spPr>
          <a:xfrm>
            <a:off x="822960" y="4718304"/>
            <a:ext cx="5486400" cy="1143000"/>
          </a:xfrm>
          <a:prstGeom prst="rect">
            <a:avLst/>
          </a:prstGeom>
          <a:noFill/>
          <a:ln/>
        </p:spPr>
        <p:txBody>
          <a:bodyPr wrap="square" lIns="0" tIns="0" rIns="0" bIns="0" rtlCol="0" anchor="ctr"/>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Tucker's 9×9×3 grid yields 9·9·3 = 243 implicit atoms for 153 explicit parameters, where the other methods get about 100 atoms at the same count. Part of its edge is extra atoms at the same sparsity level — not purely structural advantage. That is exactly why the matched-budget experiment matters.</a:t>
            </a:r>
            <a:endParaRPr lang="en-US" sz="1200" dirty="0"/>
          </a:p>
        </p:txBody>
      </p:sp>
      <p:pic>
        <p:nvPicPr>
          <p:cNvPr id="10" name="Image 0" descr="/home/claude/work/figs/p16_Im12.png">    </p:cNvPr>
          <p:cNvPicPr>
            <a:picLocks noChangeAspect="1"/>
          </p:cNvPicPr>
          <p:nvPr/>
        </p:nvPicPr>
        <p:blipFill>
          <a:blip r:embed="rId1"/>
          <a:stretch>
            <a:fillRect/>
          </a:stretch>
        </p:blipFill>
        <p:spPr>
          <a:xfrm>
            <a:off x="6858000" y="1874520"/>
            <a:ext cx="4800600" cy="1956816"/>
          </a:xfrm>
          <a:prstGeom prst="rect">
            <a:avLst/>
          </a:prstGeom>
        </p:spPr>
      </p:pic>
      <p:pic>
        <p:nvPicPr>
          <p:cNvPr id="11" name="Image 1" descr="/home/claude/work/figs/p17_Im13.png">    </p:cNvPr>
          <p:cNvPicPr>
            <a:picLocks noChangeAspect="1"/>
          </p:cNvPicPr>
          <p:nvPr/>
        </p:nvPicPr>
        <p:blipFill>
          <a:blip r:embed="rId2"/>
          <a:stretch>
            <a:fillRect/>
          </a:stretch>
        </p:blipFill>
        <p:spPr>
          <a:xfrm>
            <a:off x="6858000" y="4160520"/>
            <a:ext cx="4800600" cy="1700784"/>
          </a:xfrm>
          <a:prstGeom prst="rect">
            <a:avLst/>
          </a:prstGeom>
        </p:spPr>
      </p:pic>
      <p:sp>
        <p:nvSpPr>
          <p:cNvPr id="12" name="Text 7"/>
          <p:cNvSpPr/>
          <p:nvPr/>
        </p:nvSpPr>
        <p:spPr>
          <a:xfrm>
            <a:off x="6858000" y="3877056"/>
            <a:ext cx="4800600" cy="237744"/>
          </a:xfrm>
          <a:prstGeom prst="rect">
            <a:avLst/>
          </a:prstGeom>
          <a:noFill/>
          <a:ln/>
        </p:spPr>
        <p:txBody>
          <a:bodyPr wrap="square" lIns="0" tIns="0" rIns="0" bIns="0" rtlCol="0" anchor="ctr"/>
          <a:lstStyle/>
          <a:p>
            <a:pPr indent="0" marL="0">
              <a:buNone/>
            </a:pPr>
            <a:r>
              <a:rPr lang="en-US" sz="1050" i="1" dirty="0">
                <a:solidFill>
                  <a:srgbClr val="5A6178"/>
                </a:solidFill>
                <a:latin typeface="Arial" pitchFamily="34" charset="0"/>
                <a:ea typeface="Arial" pitchFamily="34" charset="-122"/>
                <a:cs typeface="Arial" pitchFamily="34" charset="-120"/>
              </a:rPr>
              <a:t>Real RGB patches: only Tucker sits on the frontier.</a:t>
            </a:r>
            <a:endParaRPr lang="en-US" sz="1050" dirty="0"/>
          </a:p>
        </p:txBody>
      </p:sp>
      <p:sp>
        <p:nvSpPr>
          <p:cNvPr id="13" name="Text 8"/>
          <p:cNvSpPr/>
          <p:nvPr/>
        </p:nvSpPr>
        <p:spPr>
          <a:xfrm>
            <a:off x="6858000" y="5907024"/>
            <a:ext cx="4800600" cy="411480"/>
          </a:xfrm>
          <a:prstGeom prst="rect">
            <a:avLst/>
          </a:prstGeom>
          <a:noFill/>
          <a:ln/>
        </p:spPr>
        <p:txBody>
          <a:bodyPr wrap="square" lIns="0" tIns="0" rIns="0" bIns="0" rtlCol="0" anchor="ctr"/>
          <a:lstStyle/>
          <a:p>
            <a:pPr indent="0" marL="0">
              <a:lnSpc>
                <a:spcPts val="1400"/>
              </a:lnSpc>
              <a:buNone/>
            </a:pPr>
            <a:r>
              <a:rPr lang="en-US" sz="1050" i="1" dirty="0">
                <a:solidFill>
                  <a:srgbClr val="5A6178"/>
                </a:solidFill>
                <a:latin typeface="Arial" pitchFamily="34" charset="0"/>
                <a:ea typeface="Arial" pitchFamily="34" charset="-122"/>
                <a:cs typeface="Arial" pitchFamily="34" charset="-120"/>
              </a:rPr>
              <a:t>Synthetic patches: the frontier is monotone, so the objective layer prunes nothing — all five are Pareto-optimal.</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RESULT 3 · HYPERSPECTRAL</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Matched budget removes the hand-picked ranks</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18</a:t>
            </a:r>
            <a:endParaRPr lang="en-US" sz="1200" dirty="0"/>
          </a:p>
        </p:txBody>
      </p:sp>
      <p:sp>
        <p:nvSpPr>
          <p:cNvPr id="6" name="Text 4"/>
          <p:cNvSpPr/>
          <p:nvPr/>
        </p:nvSpPr>
        <p:spPr>
          <a:xfrm>
            <a:off x="548640" y="1463040"/>
            <a:ext cx="11091672" cy="502920"/>
          </a:xfrm>
          <a:prstGeom prst="rect">
            <a:avLst/>
          </a:prstGeom>
          <a:noFill/>
          <a:ln/>
        </p:spPr>
        <p:txBody>
          <a:bodyPr wrap="square" lIns="0" tIns="0" rIns="0" bIns="0" rtlCol="0" anchor="ctr"/>
          <a:lstStyle/>
          <a:p>
            <a:pPr indent="0" marL="0">
              <a:lnSpc>
                <a:spcPts val="1900"/>
              </a:lnSpc>
              <a:buNone/>
            </a:pPr>
            <a:r>
              <a:rPr lang="en-US" sz="1350" dirty="0">
                <a:solidFill>
                  <a:srgbClr val="5A6178"/>
                </a:solidFill>
                <a:latin typeface="Arial" pitchFamily="34" charset="0"/>
                <a:ea typeface="Arial" pitchFamily="34" charset="-122"/>
                <a:cs typeface="Arial" pitchFamily="34" charset="-120"/>
              </a:rPr>
              <a:t>We fix a parameter budget and let each method auto-select its rank and atom count to spend it, sweeping the budget to trace a rate–distortion curve and repeating across noise levels.</a:t>
            </a:r>
            <a:endParaRPr lang="en-US" sz="1350" dirty="0"/>
          </a:p>
        </p:txBody>
      </p:sp>
      <p:graphicFrame>
        <p:nvGraphicFramePr>
          <p:cNvPr id="7" name="Chart 0" descr=""/>
          <p:cNvGraphicFramePr/>
          <p:nvPr/>
        </p:nvGraphicFramePr>
        <p:xfrm>
          <a:off x="548640" y="2103120"/>
          <a:ext cx="6583680" cy="35204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5715000"/>
            <a:ext cx="6583680" cy="548640"/>
          </a:xfrm>
          <a:prstGeom prst="rect">
            <a:avLst/>
          </a:prstGeom>
          <a:noFill/>
          <a:ln/>
        </p:spPr>
        <p:txBody>
          <a:bodyPr wrap="square" lIns="0" tIns="0" rIns="0" bIns="0" rtlCol="0" anchor="ctr"/>
          <a:lstStyle/>
          <a:p>
            <a:pPr indent="0" marL="0">
              <a:lnSpc>
                <a:spcPts val="1500"/>
              </a:lnSpc>
              <a:buNone/>
            </a:pPr>
            <a:r>
              <a:rPr lang="en-US" sz="1050" i="1" dirty="0">
                <a:solidFill>
                  <a:srgbClr val="5A6178"/>
                </a:solidFill>
                <a:latin typeface="Arial" pitchFamily="34" charset="0"/>
                <a:ea typeface="Arial" pitchFamily="34" charset="-122"/>
                <a:cs typeface="Arial" pitchFamily="34" charset="-120"/>
              </a:rPr>
              <a:t>*Tucker operates at 304 parameters — it cannot reach the budget without exceeding a reasonable atom cap, so “best at 5,000 parameters” understates its per-parameter efficiency.</a:t>
            </a:r>
            <a:endParaRPr lang="en-US" sz="1050" dirty="0"/>
          </a:p>
        </p:txBody>
      </p:sp>
      <p:sp>
        <p:nvSpPr>
          <p:cNvPr id="9" name="Shape 6"/>
          <p:cNvSpPr/>
          <p:nvPr/>
        </p:nvSpPr>
        <p:spPr>
          <a:xfrm>
            <a:off x="7406640" y="2057400"/>
            <a:ext cx="4233672" cy="1280160"/>
          </a:xfrm>
          <a:prstGeom prst="roundRect">
            <a:avLst>
              <a:gd name="adj" fmla="val 3571"/>
            </a:avLst>
          </a:prstGeom>
          <a:solidFill>
            <a:srgbClr val="FFFFFF"/>
          </a:solidFill>
          <a:ln w="9525">
            <a:solidFill>
              <a:srgbClr val="DCDFEC"/>
            </a:solidFill>
            <a:prstDash val="solid"/>
          </a:ln>
        </p:spPr>
      </p:sp>
      <p:sp>
        <p:nvSpPr>
          <p:cNvPr id="10" name="Text 7"/>
          <p:cNvSpPr/>
          <p:nvPr/>
        </p:nvSpPr>
        <p:spPr>
          <a:xfrm>
            <a:off x="7662672" y="2185416"/>
            <a:ext cx="3749040" cy="274320"/>
          </a:xfrm>
          <a:prstGeom prst="rect">
            <a:avLst/>
          </a:prstGeom>
          <a:noFill/>
          <a:ln/>
        </p:spPr>
        <p:txBody>
          <a:bodyPr wrap="square" lIns="0" tIns="0" rIns="0" bIns="0" rtlCol="0" anchor="ctr"/>
          <a:lstStyle/>
          <a:p>
            <a:pPr indent="0" marL="0">
              <a:buNone/>
            </a:pPr>
            <a:r>
              <a:rPr lang="en-US" sz="1450" b="1" dirty="0">
                <a:solidFill>
                  <a:srgbClr val="101534"/>
                </a:solidFill>
                <a:latin typeface="Georgia" pitchFamily="34" charset="0"/>
                <a:ea typeface="Georgia" pitchFamily="34" charset="-122"/>
                <a:cs typeface="Georgia" pitchFamily="34" charset="-120"/>
              </a:rPr>
              <a:t>A fat mode is not a high order</a:t>
            </a:r>
            <a:endParaRPr lang="en-US" sz="1450" dirty="0"/>
          </a:p>
        </p:txBody>
      </p:sp>
      <p:sp>
        <p:nvSpPr>
          <p:cNvPr id="11" name="Text 8"/>
          <p:cNvSpPr/>
          <p:nvPr/>
        </p:nvSpPr>
        <p:spPr>
          <a:xfrm>
            <a:off x="7662672" y="2496312"/>
            <a:ext cx="3749040" cy="731520"/>
          </a:xfrm>
          <a:prstGeom prst="rect">
            <a:avLst/>
          </a:prstGeom>
          <a:noFill/>
          <a:ln/>
        </p:spPr>
        <p:txBody>
          <a:bodyPr wrap="square" lIns="0" tIns="0" rIns="0" bIns="0" rtlCol="0" anchor="t"/>
          <a:lstStyle/>
          <a:p>
            <a:pPr indent="0" marL="0">
              <a:lnSpc>
                <a:spcPts val="1500"/>
              </a:lnSpc>
              <a:buNone/>
            </a:pPr>
            <a:r>
              <a:rPr lang="en-US" sz="1100" dirty="0">
                <a:solidFill>
                  <a:srgbClr val="5A6178"/>
                </a:solidFill>
                <a:latin typeface="Arial" pitchFamily="34" charset="0"/>
                <a:ea typeface="Arial" pitchFamily="34" charset="-122"/>
                <a:cs typeface="Arial" pitchFamily="34" charset="-120"/>
              </a:rPr>
              <a:t>Giving Tensor-Train a large third mode did not hand it the win. TT's advantage is high tensor order, not one wide mode.</a:t>
            </a:r>
            <a:endParaRPr lang="en-US" sz="1100" dirty="0"/>
          </a:p>
        </p:txBody>
      </p:sp>
      <p:sp>
        <p:nvSpPr>
          <p:cNvPr id="12" name="Shape 9"/>
          <p:cNvSpPr/>
          <p:nvPr/>
        </p:nvSpPr>
        <p:spPr>
          <a:xfrm>
            <a:off x="7406640" y="3429000"/>
            <a:ext cx="4233672" cy="1280160"/>
          </a:xfrm>
          <a:prstGeom prst="roundRect">
            <a:avLst>
              <a:gd name="adj" fmla="val 3571"/>
            </a:avLst>
          </a:prstGeom>
          <a:solidFill>
            <a:srgbClr val="FFFFFF"/>
          </a:solidFill>
          <a:ln w="9525">
            <a:solidFill>
              <a:srgbClr val="DCDFEC"/>
            </a:solidFill>
            <a:prstDash val="solid"/>
          </a:ln>
        </p:spPr>
      </p:sp>
      <p:sp>
        <p:nvSpPr>
          <p:cNvPr id="13" name="Text 10"/>
          <p:cNvSpPr/>
          <p:nvPr/>
        </p:nvSpPr>
        <p:spPr>
          <a:xfrm>
            <a:off x="7662672" y="3557016"/>
            <a:ext cx="3749040" cy="274320"/>
          </a:xfrm>
          <a:prstGeom prst="rect">
            <a:avLst/>
          </a:prstGeom>
          <a:noFill/>
          <a:ln/>
        </p:spPr>
        <p:txBody>
          <a:bodyPr wrap="square" lIns="0" tIns="0" rIns="0" bIns="0" rtlCol="0" anchor="ctr"/>
          <a:lstStyle/>
          <a:p>
            <a:pPr indent="0" marL="0">
              <a:buNone/>
            </a:pPr>
            <a:r>
              <a:rPr lang="en-US" sz="1450" b="1" dirty="0">
                <a:solidFill>
                  <a:srgbClr val="101534"/>
                </a:solidFill>
                <a:latin typeface="Georgia" pitchFamily="34" charset="0"/>
                <a:ea typeface="Georgia" pitchFamily="34" charset="-122"/>
                <a:cs typeface="Georgia" pitchFamily="34" charset="-120"/>
              </a:rPr>
              <a:t>The ranking does not flip with noise</a:t>
            </a:r>
            <a:endParaRPr lang="en-US" sz="1450" dirty="0"/>
          </a:p>
        </p:txBody>
      </p:sp>
      <p:sp>
        <p:nvSpPr>
          <p:cNvPr id="14" name="Text 11"/>
          <p:cNvSpPr/>
          <p:nvPr/>
        </p:nvSpPr>
        <p:spPr>
          <a:xfrm>
            <a:off x="7662672" y="3867912"/>
            <a:ext cx="3749040" cy="731520"/>
          </a:xfrm>
          <a:prstGeom prst="rect">
            <a:avLst/>
          </a:prstGeom>
          <a:noFill/>
          <a:ln/>
        </p:spPr>
        <p:txBody>
          <a:bodyPr wrap="square" lIns="0" tIns="0" rIns="0" bIns="0" rtlCol="0" anchor="t"/>
          <a:lstStyle/>
          <a:p>
            <a:pPr indent="0" marL="0">
              <a:lnSpc>
                <a:spcPts val="1500"/>
              </a:lnSpc>
              <a:buNone/>
            </a:pPr>
            <a:r>
              <a:rPr lang="en-US" sz="1100" dirty="0">
                <a:solidFill>
                  <a:srgbClr val="5A6178"/>
                </a:solidFill>
                <a:latin typeface="Arial" pitchFamily="34" charset="0"/>
                <a:ea typeface="Arial" pitchFamily="34" charset="-122"/>
                <a:cs typeface="Arial" pitchFamily="34" charset="-120"/>
              </a:rPr>
              <a:t>Between heavy (6 dB) and light (18 dB) noise only the absolute PSNR shifts; the ordering is stable.</a:t>
            </a:r>
            <a:endParaRPr lang="en-US" sz="1100" dirty="0"/>
          </a:p>
        </p:txBody>
      </p:sp>
      <p:sp>
        <p:nvSpPr>
          <p:cNvPr id="15" name="Shape 12"/>
          <p:cNvSpPr/>
          <p:nvPr/>
        </p:nvSpPr>
        <p:spPr>
          <a:xfrm>
            <a:off x="7406640" y="4800600"/>
            <a:ext cx="4233672" cy="1280160"/>
          </a:xfrm>
          <a:prstGeom prst="roundRect">
            <a:avLst>
              <a:gd name="adj" fmla="val 3571"/>
            </a:avLst>
          </a:prstGeom>
          <a:solidFill>
            <a:srgbClr val="FFFFFF"/>
          </a:solidFill>
          <a:ln w="9525">
            <a:solidFill>
              <a:srgbClr val="DCDFEC"/>
            </a:solidFill>
            <a:prstDash val="solid"/>
          </a:ln>
        </p:spPr>
      </p:sp>
      <p:sp>
        <p:nvSpPr>
          <p:cNvPr id="16" name="Text 13"/>
          <p:cNvSpPr/>
          <p:nvPr/>
        </p:nvSpPr>
        <p:spPr>
          <a:xfrm>
            <a:off x="7662672" y="4928616"/>
            <a:ext cx="3749040" cy="274320"/>
          </a:xfrm>
          <a:prstGeom prst="rect">
            <a:avLst/>
          </a:prstGeom>
          <a:noFill/>
          <a:ln/>
        </p:spPr>
        <p:txBody>
          <a:bodyPr wrap="square" lIns="0" tIns="0" rIns="0" bIns="0" rtlCol="0" anchor="ctr"/>
          <a:lstStyle/>
          <a:p>
            <a:pPr indent="0" marL="0">
              <a:buNone/>
            </a:pPr>
            <a:r>
              <a:rPr lang="en-US" sz="1450" b="1" dirty="0">
                <a:solidFill>
                  <a:srgbClr val="101534"/>
                </a:solidFill>
                <a:latin typeface="Georgia" pitchFamily="34" charset="0"/>
                <a:ea typeface="Georgia" pitchFamily="34" charset="-122"/>
                <a:cs typeface="Georgia" pitchFamily="34" charset="-120"/>
              </a:rPr>
              <a:t>Less is more on a low-rank cube</a:t>
            </a:r>
            <a:endParaRPr lang="en-US" sz="1450" dirty="0"/>
          </a:p>
        </p:txBody>
      </p:sp>
      <p:sp>
        <p:nvSpPr>
          <p:cNvPr id="17" name="Text 14"/>
          <p:cNvSpPr/>
          <p:nvPr/>
        </p:nvSpPr>
        <p:spPr>
          <a:xfrm>
            <a:off x="7662672" y="5239512"/>
            <a:ext cx="3749040" cy="731520"/>
          </a:xfrm>
          <a:prstGeom prst="rect">
            <a:avLst/>
          </a:prstGeom>
          <a:noFill/>
          <a:ln/>
        </p:spPr>
        <p:txBody>
          <a:bodyPr wrap="square" lIns="0" tIns="0" rIns="0" bIns="0" rtlCol="0" anchor="t"/>
          <a:lstStyle/>
          <a:p>
            <a:pPr indent="0" marL="0">
              <a:lnSpc>
                <a:spcPts val="1500"/>
              </a:lnSpc>
              <a:buNone/>
            </a:pPr>
            <a:r>
              <a:rPr lang="en-US" sz="1100" dirty="0">
                <a:solidFill>
                  <a:srgbClr val="5A6178"/>
                </a:solidFill>
                <a:latin typeface="Arial" pitchFamily="34" charset="0"/>
                <a:ea typeface="Arial" pitchFamily="34" charset="-122"/>
                <a:cs typeface="Arial" pitchFamily="34" charset="-120"/>
              </a:rPr>
              <a:t>Accuracy falls as the budget grows: the baseline leads at 5,000 parameters partly because its atoms cost 576 each.</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DISCUSSION</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Three themes</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19</a:t>
            </a:r>
            <a:endParaRPr lang="en-US" sz="1200" dirty="0"/>
          </a:p>
        </p:txBody>
      </p:sp>
      <p:sp>
        <p:nvSpPr>
          <p:cNvPr id="6" name="Shape 4"/>
          <p:cNvSpPr/>
          <p:nvPr/>
        </p:nvSpPr>
        <p:spPr>
          <a:xfrm>
            <a:off x="548640" y="1600200"/>
            <a:ext cx="3584448" cy="4160520"/>
          </a:xfrm>
          <a:prstGeom prst="roundRect">
            <a:avLst>
              <a:gd name="adj" fmla="val 1276"/>
            </a:avLst>
          </a:prstGeom>
          <a:solidFill>
            <a:srgbClr val="FFFFFF"/>
          </a:solidFill>
          <a:ln w="9525">
            <a:solidFill>
              <a:srgbClr val="DCDFEC"/>
            </a:solidFill>
            <a:prstDash val="solid"/>
          </a:ln>
        </p:spPr>
      </p:sp>
      <p:sp>
        <p:nvSpPr>
          <p:cNvPr id="7" name="Shape 5"/>
          <p:cNvSpPr/>
          <p:nvPr/>
        </p:nvSpPr>
        <p:spPr>
          <a:xfrm>
            <a:off x="822960" y="1828800"/>
            <a:ext cx="548640" cy="548640"/>
          </a:xfrm>
          <a:prstGeom prst="ellipse">
            <a:avLst/>
          </a:prstGeom>
          <a:solidFill>
            <a:srgbClr val="2E9E8F"/>
          </a:solidFill>
          <a:ln/>
        </p:spPr>
      </p:sp>
      <p:sp>
        <p:nvSpPr>
          <p:cNvPr id="8" name="Text 6"/>
          <p:cNvSpPr/>
          <p:nvPr/>
        </p:nvSpPr>
        <p:spPr>
          <a:xfrm>
            <a:off x="82296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i</a:t>
            </a:r>
            <a:endParaRPr lang="en-US" sz="1600" dirty="0"/>
          </a:p>
        </p:txBody>
      </p:sp>
      <p:sp>
        <p:nvSpPr>
          <p:cNvPr id="9" name="Text 7"/>
          <p:cNvSpPr/>
          <p:nvPr/>
        </p:nvSpPr>
        <p:spPr>
          <a:xfrm>
            <a:off x="822960" y="2514600"/>
            <a:ext cx="3035808" cy="685800"/>
          </a:xfrm>
          <a:prstGeom prst="rect">
            <a:avLst/>
          </a:prstGeom>
          <a:noFill/>
          <a:ln/>
        </p:spPr>
        <p:txBody>
          <a:bodyPr wrap="square" lIns="0" tIns="0" rIns="0" bIns="0" rtlCol="0" anchor="ctr"/>
          <a:lstStyle/>
          <a:p>
            <a:pPr indent="0" marL="0">
              <a:lnSpc>
                <a:spcPts val="2100"/>
              </a:lnSpc>
              <a:buNone/>
            </a:pPr>
            <a:r>
              <a:rPr lang="en-US" sz="1700" b="1" dirty="0">
                <a:solidFill>
                  <a:srgbClr val="101534"/>
                </a:solidFill>
                <a:latin typeface="Georgia" pitchFamily="34" charset="0"/>
                <a:ea typeface="Georgia" pitchFamily="34" charset="-122"/>
                <a:cs typeface="Georgia" pitchFamily="34" charset="-120"/>
              </a:rPr>
              <a:t>Regime dependence</a:t>
            </a:r>
            <a:endParaRPr lang="en-US" sz="1700" dirty="0"/>
          </a:p>
        </p:txBody>
      </p:sp>
      <p:sp>
        <p:nvSpPr>
          <p:cNvPr id="10" name="Text 8"/>
          <p:cNvSpPr/>
          <p:nvPr/>
        </p:nvSpPr>
        <p:spPr>
          <a:xfrm>
            <a:off x="822960" y="3246120"/>
            <a:ext cx="3035808" cy="2286000"/>
          </a:xfrm>
          <a:prstGeom prst="rect">
            <a:avLst/>
          </a:prstGeom>
          <a:noFill/>
          <a:ln/>
        </p:spPr>
        <p:txBody>
          <a:bodyPr wrap="square" lIns="0" tIns="0" rIns="0" bIns="0" rtlCol="0" anchor="t"/>
          <a:lstStyle/>
          <a:p>
            <a:pPr indent="0" marL="0">
              <a:lnSpc>
                <a:spcPts val="1650"/>
              </a:lnSpc>
              <a:buNone/>
            </a:pPr>
            <a:r>
              <a:rPr lang="en-US" sz="1150" dirty="0">
                <a:solidFill>
                  <a:srgbClr val="5A6178"/>
                </a:solidFill>
                <a:latin typeface="Arial" pitchFamily="34" charset="0"/>
                <a:ea typeface="Arial" pitchFamily="34" charset="-122"/>
                <a:cs typeface="Arial" pitchFamily="34" charset="-120"/>
              </a:rPr>
              <a:t>There is no absolute best decomposition. The unstructured baseline wins on rich clean synthetic data; structured dictionaries win on noisy real patches where their constraint regularizes; at matched budget on a low-rank cube, few full atoms or a tiny Tucker are most efficient. Which to use is a function of signal order, noise and intrinsic rank — not a fixed ranking.</a:t>
            </a:r>
            <a:endParaRPr lang="en-US" sz="1150" dirty="0"/>
          </a:p>
        </p:txBody>
      </p:sp>
      <p:sp>
        <p:nvSpPr>
          <p:cNvPr id="11" name="Shape 9"/>
          <p:cNvSpPr/>
          <p:nvPr/>
        </p:nvSpPr>
        <p:spPr>
          <a:xfrm>
            <a:off x="4425696" y="1600200"/>
            <a:ext cx="3584448" cy="4160520"/>
          </a:xfrm>
          <a:prstGeom prst="roundRect">
            <a:avLst>
              <a:gd name="adj" fmla="val 1276"/>
            </a:avLst>
          </a:prstGeom>
          <a:solidFill>
            <a:srgbClr val="FFFFFF"/>
          </a:solidFill>
          <a:ln w="9525">
            <a:solidFill>
              <a:srgbClr val="DCDFEC"/>
            </a:solidFill>
            <a:prstDash val="solid"/>
          </a:ln>
        </p:spPr>
      </p:sp>
      <p:sp>
        <p:nvSpPr>
          <p:cNvPr id="12" name="Shape 10"/>
          <p:cNvSpPr/>
          <p:nvPr/>
        </p:nvSpPr>
        <p:spPr>
          <a:xfrm>
            <a:off x="4700016" y="1828800"/>
            <a:ext cx="548640" cy="548640"/>
          </a:xfrm>
          <a:prstGeom prst="ellipse">
            <a:avLst/>
          </a:prstGeom>
          <a:solidFill>
            <a:srgbClr val="E8A13A"/>
          </a:solidFill>
          <a:ln/>
        </p:spPr>
      </p:sp>
      <p:sp>
        <p:nvSpPr>
          <p:cNvPr id="13" name="Text 11"/>
          <p:cNvSpPr/>
          <p:nvPr/>
        </p:nvSpPr>
        <p:spPr>
          <a:xfrm>
            <a:off x="4700016"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ii</a:t>
            </a:r>
            <a:endParaRPr lang="en-US" sz="1600" dirty="0"/>
          </a:p>
        </p:txBody>
      </p:sp>
      <p:sp>
        <p:nvSpPr>
          <p:cNvPr id="14" name="Text 12"/>
          <p:cNvSpPr/>
          <p:nvPr/>
        </p:nvSpPr>
        <p:spPr>
          <a:xfrm>
            <a:off x="4700016" y="2514600"/>
            <a:ext cx="3035808" cy="685800"/>
          </a:xfrm>
          <a:prstGeom prst="rect">
            <a:avLst/>
          </a:prstGeom>
          <a:noFill/>
          <a:ln/>
        </p:spPr>
        <p:txBody>
          <a:bodyPr wrap="square" lIns="0" tIns="0" rIns="0" bIns="0" rtlCol="0" anchor="ctr"/>
          <a:lstStyle/>
          <a:p>
            <a:pPr indent="0" marL="0">
              <a:lnSpc>
                <a:spcPts val="2100"/>
              </a:lnSpc>
              <a:buNone/>
            </a:pPr>
            <a:r>
              <a:rPr lang="en-US" sz="1700" b="1" dirty="0">
                <a:solidFill>
                  <a:srgbClr val="101534"/>
                </a:solidFill>
                <a:latin typeface="Georgia" pitchFamily="34" charset="0"/>
                <a:ea typeface="Georgia" pitchFamily="34" charset="-122"/>
                <a:cs typeface="Georgia" pitchFamily="34" charset="-120"/>
              </a:rPr>
              <a:t>Confounds can dominate structure</a:t>
            </a:r>
            <a:endParaRPr lang="en-US" sz="1700" dirty="0"/>
          </a:p>
        </p:txBody>
      </p:sp>
      <p:sp>
        <p:nvSpPr>
          <p:cNvPr id="15" name="Text 13"/>
          <p:cNvSpPr/>
          <p:nvPr/>
        </p:nvSpPr>
        <p:spPr>
          <a:xfrm>
            <a:off x="4700016" y="3246120"/>
            <a:ext cx="3035808" cy="2286000"/>
          </a:xfrm>
          <a:prstGeom prst="rect">
            <a:avLst/>
          </a:prstGeom>
          <a:noFill/>
          <a:ln/>
        </p:spPr>
        <p:txBody>
          <a:bodyPr wrap="square" lIns="0" tIns="0" rIns="0" bIns="0" rtlCol="0" anchor="t"/>
          <a:lstStyle/>
          <a:p>
            <a:pPr indent="0" marL="0">
              <a:lnSpc>
                <a:spcPts val="1650"/>
              </a:lnSpc>
              <a:buNone/>
            </a:pPr>
            <a:r>
              <a:rPr lang="en-US" sz="1150" dirty="0">
                <a:solidFill>
                  <a:srgbClr val="5A6178"/>
                </a:solidFill>
                <a:latin typeface="Arial" pitchFamily="34" charset="0"/>
                <a:ea typeface="Arial" pitchFamily="34" charset="-122"/>
                <a:cs typeface="Arial" pitchFamily="34" charset="-120"/>
              </a:rPr>
              <a:t>The Tucker rebuild moved it from last to first at identical size purely by fixing the optimizer. The matched-budget study then revised the earlier “structure wins” story by revealing that some of that advantage was really the freedom to buy many cheap atoms.</a:t>
            </a:r>
            <a:endParaRPr lang="en-US" sz="1150" dirty="0"/>
          </a:p>
        </p:txBody>
      </p:sp>
      <p:sp>
        <p:nvSpPr>
          <p:cNvPr id="16" name="Shape 14"/>
          <p:cNvSpPr/>
          <p:nvPr/>
        </p:nvSpPr>
        <p:spPr>
          <a:xfrm>
            <a:off x="8302752" y="1600200"/>
            <a:ext cx="3584448" cy="4160520"/>
          </a:xfrm>
          <a:prstGeom prst="roundRect">
            <a:avLst>
              <a:gd name="adj" fmla="val 1276"/>
            </a:avLst>
          </a:prstGeom>
          <a:solidFill>
            <a:srgbClr val="FFFFFF"/>
          </a:solidFill>
          <a:ln w="9525">
            <a:solidFill>
              <a:srgbClr val="DCDFEC"/>
            </a:solidFill>
            <a:prstDash val="solid"/>
          </a:ln>
        </p:spPr>
      </p:sp>
      <p:sp>
        <p:nvSpPr>
          <p:cNvPr id="17" name="Shape 15"/>
          <p:cNvSpPr/>
          <p:nvPr/>
        </p:nvSpPr>
        <p:spPr>
          <a:xfrm>
            <a:off x="8577072" y="1828800"/>
            <a:ext cx="548640" cy="548640"/>
          </a:xfrm>
          <a:prstGeom prst="ellipse">
            <a:avLst/>
          </a:prstGeom>
          <a:solidFill>
            <a:srgbClr val="2B3A8F"/>
          </a:solidFill>
          <a:ln/>
        </p:spPr>
      </p:sp>
      <p:sp>
        <p:nvSpPr>
          <p:cNvPr id="18" name="Text 16"/>
          <p:cNvSpPr/>
          <p:nvPr/>
        </p:nvSpPr>
        <p:spPr>
          <a:xfrm>
            <a:off x="8577072"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iii</a:t>
            </a:r>
            <a:endParaRPr lang="en-US" sz="1600" dirty="0"/>
          </a:p>
        </p:txBody>
      </p:sp>
      <p:sp>
        <p:nvSpPr>
          <p:cNvPr id="19" name="Text 17"/>
          <p:cNvSpPr/>
          <p:nvPr/>
        </p:nvSpPr>
        <p:spPr>
          <a:xfrm>
            <a:off x="8577072" y="2514600"/>
            <a:ext cx="3035808" cy="685800"/>
          </a:xfrm>
          <a:prstGeom prst="rect">
            <a:avLst/>
          </a:prstGeom>
          <a:noFill/>
          <a:ln/>
        </p:spPr>
        <p:txBody>
          <a:bodyPr wrap="square" lIns="0" tIns="0" rIns="0" bIns="0" rtlCol="0" anchor="ctr"/>
          <a:lstStyle/>
          <a:p>
            <a:pPr indent="0" marL="0">
              <a:lnSpc>
                <a:spcPts val="2100"/>
              </a:lnSpc>
              <a:buNone/>
            </a:pPr>
            <a:r>
              <a:rPr lang="en-US" sz="1700" b="1" dirty="0">
                <a:solidFill>
                  <a:srgbClr val="101534"/>
                </a:solidFill>
                <a:latin typeface="Georgia" pitchFamily="34" charset="0"/>
                <a:ea typeface="Georgia" pitchFamily="34" charset="-122"/>
                <a:cs typeface="Georgia" pitchFamily="34" charset="-120"/>
              </a:rPr>
              <a:t>Matched-parameter is not matched-atom</a:t>
            </a:r>
            <a:endParaRPr lang="en-US" sz="1700" dirty="0"/>
          </a:p>
        </p:txBody>
      </p:sp>
      <p:sp>
        <p:nvSpPr>
          <p:cNvPr id="20" name="Text 18"/>
          <p:cNvSpPr/>
          <p:nvPr/>
        </p:nvSpPr>
        <p:spPr>
          <a:xfrm>
            <a:off x="8577072" y="3246120"/>
            <a:ext cx="3035808" cy="2286000"/>
          </a:xfrm>
          <a:prstGeom prst="rect">
            <a:avLst/>
          </a:prstGeom>
          <a:noFill/>
          <a:ln/>
        </p:spPr>
        <p:txBody>
          <a:bodyPr wrap="square" lIns="0" tIns="0" rIns="0" bIns="0" rtlCol="0" anchor="t"/>
          <a:lstStyle/>
          <a:p>
            <a:pPr indent="0" marL="0">
              <a:lnSpc>
                <a:spcPts val="1650"/>
              </a:lnSpc>
              <a:buNone/>
            </a:pPr>
            <a:r>
              <a:rPr lang="en-US" sz="1150" dirty="0">
                <a:solidFill>
                  <a:srgbClr val="5A6178"/>
                </a:solidFill>
                <a:latin typeface="Arial" pitchFamily="34" charset="0"/>
                <a:ea typeface="Arial" pitchFamily="34" charset="-122"/>
                <a:cs typeface="Arial" pitchFamily="34" charset="-120"/>
              </a:rPr>
              <a:t>At equal storage the baseline is forced into few heavily regularized atoms while structured methods spend the same budget on many. Which budget is “fair” depends on whether you care about storage or per-atom quality.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84048"/>
            <a:ext cx="8686800" cy="256032"/>
          </a:xfrm>
          <a:prstGeom prst="rect">
            <a:avLst/>
          </a:prstGeom>
          <a:noFill/>
          <a:ln/>
        </p:spPr>
        <p:txBody>
          <a:bodyPr wrap="square" lIns="0" tIns="0" rIns="0" bIns="0" rtlCol="0" anchor="ctr"/>
          <a:lstStyle/>
          <a:p>
            <a:pPr indent="0" marL="0">
              <a:buNone/>
            </a:pPr>
            <a:r>
              <a:rPr lang="en-US" sz="1100" b="1" spc="200" kern="0" dirty="0">
                <a:solidFill>
                  <a:srgbClr val="E8A13A"/>
                </a:solidFill>
                <a:latin typeface="Arial" pitchFamily="34" charset="0"/>
                <a:ea typeface="Arial" pitchFamily="34" charset="-122"/>
                <a:cs typeface="Arial" pitchFamily="34" charset="-120"/>
              </a:rPr>
              <a:t>LIMITATIONS</a:t>
            </a:r>
            <a:endParaRPr lang="en-US" sz="1100" dirty="0"/>
          </a:p>
        </p:txBody>
      </p:sp>
      <p:sp>
        <p:nvSpPr>
          <p:cNvPr id="3" name="Text 1"/>
          <p:cNvSpPr/>
          <p:nvPr/>
        </p:nvSpPr>
        <p:spPr>
          <a:xfrm>
            <a:off x="548640" y="658368"/>
            <a:ext cx="10424160" cy="658368"/>
          </a:xfrm>
          <a:prstGeom prst="rect">
            <a:avLst/>
          </a:prstGeom>
          <a:noFill/>
          <a:ln/>
        </p:spPr>
        <p:txBody>
          <a:bodyPr wrap="square" lIns="0" tIns="0" rIns="0" bIns="0" rtlCol="0" anchor="ctr"/>
          <a:lstStyle/>
          <a:p>
            <a:pPr indent="0" marL="0">
              <a:buNone/>
            </a:pPr>
            <a:r>
              <a:rPr lang="en-US" sz="2600" b="1" dirty="0">
                <a:solidFill>
                  <a:srgbClr val="101534"/>
                </a:solidFill>
                <a:latin typeface="Georgia" pitchFamily="34" charset="0"/>
                <a:ea typeface="Georgia" pitchFamily="34" charset="-122"/>
                <a:cs typeface="Georgia" pitchFamily="34" charset="-120"/>
              </a:rPr>
              <a:t>What these numbers do not say</a:t>
            </a:r>
            <a:endParaRPr lang="en-US" sz="2600" dirty="0"/>
          </a:p>
        </p:txBody>
      </p:sp>
      <p:sp>
        <p:nvSpPr>
          <p:cNvPr id="4" name="Shape 2"/>
          <p:cNvSpPr/>
          <p:nvPr/>
        </p:nvSpPr>
        <p:spPr>
          <a:xfrm>
            <a:off x="11256264" y="384048"/>
            <a:ext cx="384048" cy="384048"/>
          </a:xfrm>
          <a:prstGeom prst="roundRect">
            <a:avLst>
              <a:gd name="adj" fmla="val 19048"/>
            </a:avLst>
          </a:prstGeom>
          <a:solidFill>
            <a:srgbClr val="E8A13A"/>
          </a:solidFill>
          <a:ln/>
        </p:spPr>
      </p:sp>
      <p:sp>
        <p:nvSpPr>
          <p:cNvPr id="5" name="Text 3"/>
          <p:cNvSpPr/>
          <p:nvPr/>
        </p:nvSpPr>
        <p:spPr>
          <a:xfrm>
            <a:off x="11256264" y="384048"/>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20</a:t>
            </a:r>
            <a:endParaRPr lang="en-US" sz="1200" dirty="0"/>
          </a:p>
        </p:txBody>
      </p:sp>
      <p:sp>
        <p:nvSpPr>
          <p:cNvPr id="6" name="Shape 4"/>
          <p:cNvSpPr/>
          <p:nvPr/>
        </p:nvSpPr>
        <p:spPr>
          <a:xfrm>
            <a:off x="548640" y="1600200"/>
            <a:ext cx="5376672" cy="1920240"/>
          </a:xfrm>
          <a:prstGeom prst="roundRect">
            <a:avLst>
              <a:gd name="adj" fmla="val 2381"/>
            </a:avLst>
          </a:prstGeom>
          <a:solidFill>
            <a:srgbClr val="FFFFFF"/>
          </a:solidFill>
          <a:ln w="9525">
            <a:solidFill>
              <a:srgbClr val="DCDFEC"/>
            </a:solidFill>
            <a:prstDash val="solid"/>
          </a:ln>
        </p:spPr>
      </p:sp>
      <p:sp>
        <p:nvSpPr>
          <p:cNvPr id="7" name="Text 5"/>
          <p:cNvSpPr/>
          <p:nvPr/>
        </p:nvSpPr>
        <p:spPr>
          <a:xfrm>
            <a:off x="841248" y="1783080"/>
            <a:ext cx="4800600" cy="566928"/>
          </a:xfrm>
          <a:prstGeom prst="rect">
            <a:avLst/>
          </a:prstGeom>
          <a:noFill/>
          <a:ln/>
        </p:spPr>
        <p:txBody>
          <a:bodyPr wrap="square" lIns="0" tIns="0" rIns="0" bIns="0" rtlCol="0" anchor="ctr"/>
          <a:lstStyle/>
          <a:p>
            <a:pPr indent="0" marL="0">
              <a:lnSpc>
                <a:spcPts val="2000"/>
              </a:lnSpc>
              <a:buNone/>
            </a:pPr>
            <a:r>
              <a:rPr lang="en-US" sz="1600" b="1" dirty="0">
                <a:solidFill>
                  <a:srgbClr val="101534"/>
                </a:solidFill>
                <a:latin typeface="Georgia" pitchFamily="34" charset="0"/>
                <a:ea typeface="Georgia" pitchFamily="34" charset="-122"/>
                <a:cs typeface="Georgia" pitchFamily="34" charset="-120"/>
              </a:rPr>
              <a:t>Implementations, not canonical algorithms</a:t>
            </a:r>
            <a:endParaRPr lang="en-US" sz="1600" dirty="0"/>
          </a:p>
        </p:txBody>
      </p:sp>
      <p:sp>
        <p:nvSpPr>
          <p:cNvPr id="8" name="Text 6"/>
          <p:cNvSpPr/>
          <p:nvPr/>
        </p:nvSpPr>
        <p:spPr>
          <a:xfrm>
            <a:off x="841248" y="2350008"/>
            <a:ext cx="4800600" cy="1005840"/>
          </a:xfrm>
          <a:prstGeom prst="rect">
            <a:avLst/>
          </a:prstGeom>
          <a:noFill/>
          <a:ln/>
        </p:spPr>
        <p:txBody>
          <a:bodyPr wrap="square" lIns="0" tIns="0" rIns="0" bIns="0" rtlCol="0" anchor="t"/>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CP / TT / TR / BTD here are projection variants inside a shared K-SVD loop — not jointly optimized factors, PALM-based TT-DL or SeDiL. The labels rank these implementations, not the definitive performance of those methods.</a:t>
            </a:r>
            <a:endParaRPr lang="en-US" sz="1200" dirty="0"/>
          </a:p>
        </p:txBody>
      </p:sp>
      <p:sp>
        <p:nvSpPr>
          <p:cNvPr id="9" name="Shape 7"/>
          <p:cNvSpPr/>
          <p:nvPr/>
        </p:nvSpPr>
        <p:spPr>
          <a:xfrm>
            <a:off x="6263640" y="1600200"/>
            <a:ext cx="5376672" cy="1920240"/>
          </a:xfrm>
          <a:prstGeom prst="roundRect">
            <a:avLst>
              <a:gd name="adj" fmla="val 2381"/>
            </a:avLst>
          </a:prstGeom>
          <a:solidFill>
            <a:srgbClr val="FFFFFF"/>
          </a:solidFill>
          <a:ln w="9525">
            <a:solidFill>
              <a:srgbClr val="DCDFEC"/>
            </a:solidFill>
            <a:prstDash val="solid"/>
          </a:ln>
        </p:spPr>
      </p:sp>
      <p:sp>
        <p:nvSpPr>
          <p:cNvPr id="10" name="Text 8"/>
          <p:cNvSpPr/>
          <p:nvPr/>
        </p:nvSpPr>
        <p:spPr>
          <a:xfrm>
            <a:off x="6556248" y="1783080"/>
            <a:ext cx="4800600" cy="566928"/>
          </a:xfrm>
          <a:prstGeom prst="rect">
            <a:avLst/>
          </a:prstGeom>
          <a:noFill/>
          <a:ln/>
        </p:spPr>
        <p:txBody>
          <a:bodyPr wrap="square" lIns="0" tIns="0" rIns="0" bIns="0" rtlCol="0" anchor="ctr"/>
          <a:lstStyle/>
          <a:p>
            <a:pPr indent="0" marL="0">
              <a:lnSpc>
                <a:spcPts val="2000"/>
              </a:lnSpc>
              <a:buNone/>
            </a:pPr>
            <a:r>
              <a:rPr lang="en-US" sz="1600" b="1" dirty="0">
                <a:solidFill>
                  <a:srgbClr val="101534"/>
                </a:solidFill>
                <a:latin typeface="Georgia" pitchFamily="34" charset="0"/>
                <a:ea typeface="Georgia" pitchFamily="34" charset="-122"/>
                <a:cs typeface="Georgia" pitchFamily="34" charset="-120"/>
              </a:rPr>
              <a:t>Modest data, seed-only error bars</a:t>
            </a:r>
            <a:endParaRPr lang="en-US" sz="1600" dirty="0"/>
          </a:p>
        </p:txBody>
      </p:sp>
      <p:sp>
        <p:nvSpPr>
          <p:cNvPr id="11" name="Text 9"/>
          <p:cNvSpPr/>
          <p:nvPr/>
        </p:nvSpPr>
        <p:spPr>
          <a:xfrm>
            <a:off x="6556248" y="2350008"/>
            <a:ext cx="4800600" cy="1005840"/>
          </a:xfrm>
          <a:prstGeom prst="rect">
            <a:avLst/>
          </a:prstGeom>
          <a:noFill/>
          <a:ln/>
        </p:spPr>
        <p:txBody>
          <a:bodyPr wrap="square" lIns="0" tIns="0" rIns="0" bIns="0" rtlCol="0" anchor="t"/>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Hundreds of patches, single images, a few noise levels; the bars capture seed variance alone, and the HSI cube is synthetic rather than a real capture.</a:t>
            </a:r>
            <a:endParaRPr lang="en-US" sz="1200" dirty="0"/>
          </a:p>
        </p:txBody>
      </p:sp>
      <p:sp>
        <p:nvSpPr>
          <p:cNvPr id="12" name="Shape 10"/>
          <p:cNvSpPr/>
          <p:nvPr/>
        </p:nvSpPr>
        <p:spPr>
          <a:xfrm>
            <a:off x="548640" y="3749040"/>
            <a:ext cx="5376672" cy="1920240"/>
          </a:xfrm>
          <a:prstGeom prst="roundRect">
            <a:avLst>
              <a:gd name="adj" fmla="val 2381"/>
            </a:avLst>
          </a:prstGeom>
          <a:solidFill>
            <a:srgbClr val="FFFFFF"/>
          </a:solidFill>
          <a:ln w="9525">
            <a:solidFill>
              <a:srgbClr val="DCDFEC"/>
            </a:solidFill>
            <a:prstDash val="solid"/>
          </a:ln>
        </p:spPr>
      </p:sp>
      <p:sp>
        <p:nvSpPr>
          <p:cNvPr id="13" name="Text 11"/>
          <p:cNvSpPr/>
          <p:nvPr/>
        </p:nvSpPr>
        <p:spPr>
          <a:xfrm>
            <a:off x="841248" y="3931920"/>
            <a:ext cx="4800600" cy="566928"/>
          </a:xfrm>
          <a:prstGeom prst="rect">
            <a:avLst/>
          </a:prstGeom>
          <a:noFill/>
          <a:ln/>
        </p:spPr>
        <p:txBody>
          <a:bodyPr wrap="square" lIns="0" tIns="0" rIns="0" bIns="0" rtlCol="0" anchor="ctr"/>
          <a:lstStyle/>
          <a:p>
            <a:pPr indent="0" marL="0">
              <a:lnSpc>
                <a:spcPts val="2000"/>
              </a:lnSpc>
              <a:buNone/>
            </a:pPr>
            <a:r>
              <a:rPr lang="en-US" sz="1600" b="1" dirty="0">
                <a:solidFill>
                  <a:srgbClr val="101534"/>
                </a:solidFill>
                <a:latin typeface="Georgia" pitchFamily="34" charset="0"/>
                <a:ea typeface="Georgia" pitchFamily="34" charset="-122"/>
                <a:cs typeface="Georgia" pitchFamily="34" charset="-120"/>
              </a:rPr>
              <a:t>The budget study caps atom counts</a:t>
            </a:r>
            <a:endParaRPr lang="en-US" sz="1600" dirty="0"/>
          </a:p>
        </p:txBody>
      </p:sp>
      <p:sp>
        <p:nvSpPr>
          <p:cNvPr id="14" name="Text 12"/>
          <p:cNvSpPr/>
          <p:nvPr/>
        </p:nvSpPr>
        <p:spPr>
          <a:xfrm>
            <a:off x="841248" y="4498848"/>
            <a:ext cx="4800600" cy="1005840"/>
          </a:xfrm>
          <a:prstGeom prst="rect">
            <a:avLst/>
          </a:prstGeom>
          <a:noFill/>
          <a:ln/>
        </p:spPr>
        <p:txBody>
          <a:bodyPr wrap="square" lIns="0" tIns="0" rIns="0" bIns="0" rtlCol="0" anchor="t"/>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Capping for tractability bounds Tucker artificially — it is why Tucker sits at the far left of the rate–distortion curve rather than on it.</a:t>
            </a:r>
            <a:endParaRPr lang="en-US" sz="1200" dirty="0"/>
          </a:p>
        </p:txBody>
      </p:sp>
      <p:sp>
        <p:nvSpPr>
          <p:cNvPr id="15" name="Shape 13"/>
          <p:cNvSpPr/>
          <p:nvPr/>
        </p:nvSpPr>
        <p:spPr>
          <a:xfrm>
            <a:off x="6263640" y="3749040"/>
            <a:ext cx="5376672" cy="1920240"/>
          </a:xfrm>
          <a:prstGeom prst="roundRect">
            <a:avLst>
              <a:gd name="adj" fmla="val 2381"/>
            </a:avLst>
          </a:prstGeom>
          <a:solidFill>
            <a:srgbClr val="FFFFFF"/>
          </a:solidFill>
          <a:ln w="9525">
            <a:solidFill>
              <a:srgbClr val="DCDFEC"/>
            </a:solidFill>
            <a:prstDash val="solid"/>
          </a:ln>
        </p:spPr>
      </p:sp>
      <p:sp>
        <p:nvSpPr>
          <p:cNvPr id="16" name="Text 14"/>
          <p:cNvSpPr/>
          <p:nvPr/>
        </p:nvSpPr>
        <p:spPr>
          <a:xfrm>
            <a:off x="6556248" y="3931920"/>
            <a:ext cx="4800600" cy="566928"/>
          </a:xfrm>
          <a:prstGeom prst="rect">
            <a:avLst/>
          </a:prstGeom>
          <a:noFill/>
          <a:ln/>
        </p:spPr>
        <p:txBody>
          <a:bodyPr wrap="square" lIns="0" tIns="0" rIns="0" bIns="0" rtlCol="0" anchor="ctr"/>
          <a:lstStyle/>
          <a:p>
            <a:pPr indent="0" marL="0">
              <a:lnSpc>
                <a:spcPts val="2000"/>
              </a:lnSpc>
              <a:buNone/>
            </a:pPr>
            <a:r>
              <a:rPr lang="en-US" sz="1600" b="1" dirty="0">
                <a:solidFill>
                  <a:srgbClr val="101534"/>
                </a:solidFill>
                <a:latin typeface="Georgia" pitchFamily="34" charset="0"/>
                <a:ea typeface="Georgia" pitchFamily="34" charset="-122"/>
                <a:cs typeface="Georgia" pitchFamily="34" charset="-120"/>
              </a:rPr>
              <a:t>The speed axis understates tensor methods</a:t>
            </a:r>
            <a:endParaRPr lang="en-US" sz="1600" dirty="0"/>
          </a:p>
        </p:txBody>
      </p:sp>
      <p:sp>
        <p:nvSpPr>
          <p:cNvPr id="17" name="Text 15"/>
          <p:cNvSpPr/>
          <p:nvPr/>
        </p:nvSpPr>
        <p:spPr>
          <a:xfrm>
            <a:off x="6556248" y="4498848"/>
            <a:ext cx="4800600" cy="1005840"/>
          </a:xfrm>
          <a:prstGeom prst="rect">
            <a:avLst/>
          </a:prstGeom>
          <a:noFill/>
          <a:ln/>
        </p:spPr>
        <p:txBody>
          <a:bodyPr wrap="square" lIns="0" tIns="0" rIns="0" bIns="0" rtlCol="0" anchor="t"/>
          <a:lstStyle/>
          <a:p>
            <a:pPr indent="0" marL="0">
              <a:lnSpc>
                <a:spcPts val="1700"/>
              </a:lnSpc>
              <a:buNone/>
            </a:pPr>
            <a:r>
              <a:rPr lang="en-US" sz="1200" dirty="0">
                <a:solidFill>
                  <a:srgbClr val="5A6178"/>
                </a:solidFill>
                <a:latin typeface="Arial" pitchFamily="34" charset="0"/>
                <a:ea typeface="Arial" pitchFamily="34" charset="-122"/>
                <a:cs typeface="Arial" pitchFamily="34" charset="-120"/>
              </a:rPr>
              <a:t>The harness materializes the full effective dictionary and runs identical OMP for fairness, discarding the fast structured transforms that are a genuine computational advantage of Kronecker and TT dictionaries.</a:t>
            </a:r>
            <a:endParaRPr lang="en-US" sz="1200" dirty="0"/>
          </a:p>
        </p:txBody>
      </p:sp>
      <p:sp>
        <p:nvSpPr>
          <p:cNvPr id="18" name="Text 16"/>
          <p:cNvSpPr/>
          <p:nvPr/>
        </p:nvSpPr>
        <p:spPr>
          <a:xfrm>
            <a:off x="548640" y="5943600"/>
            <a:ext cx="11091672" cy="365760"/>
          </a:xfrm>
          <a:prstGeom prst="rect">
            <a:avLst/>
          </a:prstGeom>
          <a:noFill/>
          <a:ln/>
        </p:spPr>
        <p:txBody>
          <a:bodyPr wrap="square" lIns="0" tIns="0" rIns="0" bIns="0" rtlCol="0" anchor="ctr"/>
          <a:lstStyle/>
          <a:p>
            <a:pPr indent="0" marL="0">
              <a:buNone/>
            </a:pPr>
            <a:r>
              <a:rPr lang="en-US" sz="1300" i="1" dirty="0">
                <a:solidFill>
                  <a:srgbClr val="2B3A8F"/>
                </a:solidFill>
                <a:latin typeface="Arial" pitchFamily="34" charset="0"/>
                <a:ea typeface="Arial" pitchFamily="34" charset="-122"/>
                <a:cs typeface="Arial" pitchFamily="34" charset="-120"/>
              </a:rPr>
              <a:t>A fuller treatment would report several implementations per structure and show the spread — these are natural next steps rather than flaws to hide.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534"/>
        </a:solidFill>
      </p:bgPr>
    </p:bg>
    <p:spTree>
      <p:nvGrpSpPr>
        <p:cNvPr id="1" name=""/>
        <p:cNvGrpSpPr/>
        <p:nvPr/>
      </p:nvGrpSpPr>
      <p:grpSpPr>
        <a:xfrm>
          <a:off x="0" y="0"/>
          <a:ext cx="0" cy="0"/>
          <a:chOff x="0" y="0"/>
          <a:chExt cx="0" cy="0"/>
        </a:xfrm>
      </p:grpSpPr>
      <p:sp>
        <p:nvSpPr>
          <p:cNvPr id="2" name="Text 0"/>
          <p:cNvSpPr/>
          <p:nvPr/>
        </p:nvSpPr>
        <p:spPr>
          <a:xfrm>
            <a:off x="731520" y="822960"/>
            <a:ext cx="8229600" cy="274320"/>
          </a:xfrm>
          <a:prstGeom prst="rect">
            <a:avLst/>
          </a:prstGeom>
          <a:noFill/>
          <a:ln/>
        </p:spPr>
        <p:txBody>
          <a:bodyPr wrap="square" lIns="0" tIns="0" rIns="0" bIns="0" rtlCol="0" anchor="ctr"/>
          <a:lstStyle/>
          <a:p>
            <a:pPr indent="0" marL="0">
              <a:buNone/>
            </a:pPr>
            <a:r>
              <a:rPr lang="en-US" sz="1150" b="1" spc="200" kern="0" dirty="0">
                <a:solidFill>
                  <a:srgbClr val="E8A13A"/>
                </a:solidFill>
                <a:latin typeface="Arial" pitchFamily="34" charset="0"/>
                <a:ea typeface="Arial" pitchFamily="34" charset="-122"/>
                <a:cs typeface="Arial" pitchFamily="34" charset="-120"/>
              </a:rPr>
              <a:t>CONCLUSION</a:t>
            </a:r>
            <a:endParaRPr lang="en-US" sz="1150" dirty="0"/>
          </a:p>
        </p:txBody>
      </p:sp>
      <p:sp>
        <p:nvSpPr>
          <p:cNvPr id="3" name="Shape 1"/>
          <p:cNvSpPr/>
          <p:nvPr/>
        </p:nvSpPr>
        <p:spPr>
          <a:xfrm>
            <a:off x="11256264" y="777240"/>
            <a:ext cx="384048" cy="384048"/>
          </a:xfrm>
          <a:prstGeom prst="roundRect">
            <a:avLst>
              <a:gd name="adj" fmla="val 19048"/>
            </a:avLst>
          </a:prstGeom>
          <a:solidFill>
            <a:srgbClr val="E8A13A"/>
          </a:solidFill>
          <a:ln/>
        </p:spPr>
      </p:sp>
      <p:sp>
        <p:nvSpPr>
          <p:cNvPr id="4" name="Text 2"/>
          <p:cNvSpPr/>
          <p:nvPr/>
        </p:nvSpPr>
        <p:spPr>
          <a:xfrm>
            <a:off x="11256264" y="777240"/>
            <a:ext cx="384048" cy="384048"/>
          </a:xfrm>
          <a:prstGeom prst="rect">
            <a:avLst/>
          </a:prstGeom>
          <a:noFill/>
          <a:ln/>
        </p:spPr>
        <p:txBody>
          <a:bodyPr wrap="square" lIns="0" tIns="0" rIns="0" bIns="0" rtlCol="0" anchor="ctr"/>
          <a:lstStyle/>
          <a:p>
            <a:pPr algn="ctr" indent="0" marL="0">
              <a:buNone/>
            </a:pPr>
            <a:r>
              <a:rPr lang="en-US" sz="1200" b="1" dirty="0">
                <a:solidFill>
                  <a:srgbClr val="101534"/>
                </a:solidFill>
                <a:latin typeface="Arial" pitchFamily="34" charset="0"/>
                <a:ea typeface="Arial" pitchFamily="34" charset="-122"/>
                <a:cs typeface="Arial" pitchFamily="34" charset="-120"/>
              </a:rPr>
              <a:t>21</a:t>
            </a:r>
            <a:endParaRPr lang="en-US" sz="1200" dirty="0"/>
          </a:p>
        </p:txBody>
      </p:sp>
      <p:sp>
        <p:nvSpPr>
          <p:cNvPr id="5" name="Text 3"/>
          <p:cNvSpPr/>
          <p:nvPr/>
        </p:nvSpPr>
        <p:spPr>
          <a:xfrm>
            <a:off x="731520" y="1234440"/>
            <a:ext cx="10607040" cy="1371600"/>
          </a:xfrm>
          <a:prstGeom prst="rect">
            <a:avLst/>
          </a:prstGeom>
          <a:noFill/>
          <a:ln/>
        </p:spPr>
        <p:txBody>
          <a:bodyPr wrap="square" lIns="0" tIns="0" rIns="0" bIns="0" rtlCol="0" anchor="ctr"/>
          <a:lstStyle/>
          <a:p>
            <a:pPr indent="0" marL="0">
              <a:lnSpc>
                <a:spcPts val="4000"/>
              </a:lnSpc>
              <a:buNone/>
            </a:pPr>
            <a:r>
              <a:rPr lang="en-US" sz="3200" b="1" dirty="0">
                <a:solidFill>
                  <a:srgbClr val="FFFFFF"/>
                </a:solidFill>
                <a:latin typeface="Georgia" pitchFamily="34" charset="0"/>
                <a:ea typeface="Georgia" pitchFamily="34" charset="-122"/>
                <a:cs typeface="Georgia" pitchFamily="34" charset="-120"/>
              </a:rPr>
              <a:t>One harness, six dictionaries,</a:t>
            </a:r>
            <a:endParaRPr lang="en-US" sz="3200" dirty="0"/>
          </a:p>
          <a:p>
            <a:pPr indent="0" marL="0">
              <a:lnSpc>
                <a:spcPts val="4000"/>
              </a:lnSpc>
              <a:buNone/>
            </a:pPr>
            <a:r>
              <a:rPr lang="en-US" sz="3200" b="1" dirty="0">
                <a:solidFill>
                  <a:srgbClr val="FFFFFF"/>
                </a:solidFill>
                <a:latin typeface="Georgia" pitchFamily="34" charset="0"/>
                <a:ea typeface="Georgia" pitchFamily="34" charset="-122"/>
                <a:cs typeface="Georgia" pitchFamily="34" charset="-120"/>
              </a:rPr>
              <a:t>and a ranking that can be re-derived anywhere</a:t>
            </a:r>
            <a:endParaRPr lang="en-US" sz="3200" dirty="0"/>
          </a:p>
        </p:txBody>
      </p:sp>
      <p:sp>
        <p:nvSpPr>
          <p:cNvPr id="6" name="Shape 4"/>
          <p:cNvSpPr/>
          <p:nvPr/>
        </p:nvSpPr>
        <p:spPr>
          <a:xfrm>
            <a:off x="731520" y="2880360"/>
            <a:ext cx="3401568" cy="2286000"/>
          </a:xfrm>
          <a:prstGeom prst="roundRect">
            <a:avLst>
              <a:gd name="adj" fmla="val 2400"/>
            </a:avLst>
          </a:prstGeom>
          <a:solidFill>
            <a:srgbClr val="1B2149"/>
          </a:solidFill>
          <a:ln w="12700">
            <a:solidFill>
              <a:srgbClr val="2E3766"/>
            </a:solidFill>
            <a:prstDash val="solid"/>
          </a:ln>
        </p:spPr>
      </p:sp>
      <p:sp>
        <p:nvSpPr>
          <p:cNvPr id="7" name="Text 5"/>
          <p:cNvSpPr/>
          <p:nvPr/>
        </p:nvSpPr>
        <p:spPr>
          <a:xfrm>
            <a:off x="1005840" y="3108960"/>
            <a:ext cx="2834640" cy="256032"/>
          </a:xfrm>
          <a:prstGeom prst="rect">
            <a:avLst/>
          </a:prstGeom>
          <a:noFill/>
          <a:ln/>
        </p:spPr>
        <p:txBody>
          <a:bodyPr wrap="square" lIns="0" tIns="0" rIns="0" bIns="0" rtlCol="0" anchor="ctr"/>
          <a:lstStyle/>
          <a:p>
            <a:pPr indent="0" marL="0">
              <a:buNone/>
            </a:pPr>
            <a:r>
              <a:rPr lang="en-US" sz="1050" b="1" spc="150" kern="0" dirty="0">
                <a:solidFill>
                  <a:srgbClr val="E8A13A"/>
                </a:solidFill>
                <a:latin typeface="Arial" pitchFamily="34" charset="0"/>
                <a:ea typeface="Arial" pitchFamily="34" charset="-122"/>
                <a:cs typeface="Arial" pitchFamily="34" charset="-120"/>
              </a:rPr>
              <a:t>CONNECTED</a:t>
            </a:r>
            <a:endParaRPr lang="en-US" sz="1050" dirty="0"/>
          </a:p>
        </p:txBody>
      </p:sp>
      <p:sp>
        <p:nvSpPr>
          <p:cNvPr id="8" name="Text 6"/>
          <p:cNvSpPr/>
          <p:nvPr/>
        </p:nvSpPr>
        <p:spPr>
          <a:xfrm>
            <a:off x="1005840" y="3419856"/>
            <a:ext cx="2852928" cy="1508760"/>
          </a:xfrm>
          <a:prstGeom prst="rect">
            <a:avLst/>
          </a:prstGeom>
          <a:noFill/>
          <a:ln/>
        </p:spPr>
        <p:txBody>
          <a:bodyPr wrap="square" lIns="0" tIns="0" rIns="0" bIns="0" rtlCol="0" anchor="t"/>
          <a:lstStyle/>
          <a:p>
            <a:pPr indent="0" marL="0">
              <a:lnSpc>
                <a:spcPts val="1750"/>
              </a:lnSpc>
              <a:buNone/>
            </a:pPr>
            <a:r>
              <a:rPr lang="en-US" sz="1200" dirty="0">
                <a:solidFill>
                  <a:srgbClr val="CFD3E6"/>
                </a:solidFill>
                <a:latin typeface="Arial" pitchFamily="34" charset="0"/>
                <a:ea typeface="Arial" pitchFamily="34" charset="-122"/>
                <a:cs typeface="Arial" pitchFamily="34" charset="-120"/>
              </a:rPr>
              <a:t>Five tensor-structured dictionaries and an unstructured baseline that differ only in how each atom is parameterized — linked to dictionary learning through the Khatri–Rao and Kronecker forms.</a:t>
            </a:r>
            <a:endParaRPr lang="en-US" sz="1200" dirty="0"/>
          </a:p>
        </p:txBody>
      </p:sp>
      <p:sp>
        <p:nvSpPr>
          <p:cNvPr id="9" name="Shape 7"/>
          <p:cNvSpPr/>
          <p:nvPr/>
        </p:nvSpPr>
        <p:spPr>
          <a:xfrm>
            <a:off x="4389120" y="2880360"/>
            <a:ext cx="3401568" cy="2286000"/>
          </a:xfrm>
          <a:prstGeom prst="roundRect">
            <a:avLst>
              <a:gd name="adj" fmla="val 2400"/>
            </a:avLst>
          </a:prstGeom>
          <a:solidFill>
            <a:srgbClr val="1B2149"/>
          </a:solidFill>
          <a:ln w="12700">
            <a:solidFill>
              <a:srgbClr val="2E3766"/>
            </a:solidFill>
            <a:prstDash val="solid"/>
          </a:ln>
        </p:spPr>
      </p:sp>
      <p:sp>
        <p:nvSpPr>
          <p:cNvPr id="10" name="Text 8"/>
          <p:cNvSpPr/>
          <p:nvPr/>
        </p:nvSpPr>
        <p:spPr>
          <a:xfrm>
            <a:off x="4663440" y="3108960"/>
            <a:ext cx="2834640" cy="256032"/>
          </a:xfrm>
          <a:prstGeom prst="rect">
            <a:avLst/>
          </a:prstGeom>
          <a:noFill/>
          <a:ln/>
        </p:spPr>
        <p:txBody>
          <a:bodyPr wrap="square" lIns="0" tIns="0" rIns="0" bIns="0" rtlCol="0" anchor="ctr"/>
          <a:lstStyle/>
          <a:p>
            <a:pPr indent="0" marL="0">
              <a:buNone/>
            </a:pPr>
            <a:r>
              <a:rPr lang="en-US" sz="1050" b="1" spc="150" kern="0" dirty="0">
                <a:solidFill>
                  <a:srgbClr val="E8A13A"/>
                </a:solidFill>
                <a:latin typeface="Arial" pitchFamily="34" charset="0"/>
                <a:ea typeface="Arial" pitchFamily="34" charset="-122"/>
                <a:cs typeface="Arial" pitchFamily="34" charset="-120"/>
              </a:rPr>
              <a:t>MEASURED</a:t>
            </a:r>
            <a:endParaRPr lang="en-US" sz="1050" dirty="0"/>
          </a:p>
        </p:txBody>
      </p:sp>
      <p:sp>
        <p:nvSpPr>
          <p:cNvPr id="11" name="Text 9"/>
          <p:cNvSpPr/>
          <p:nvPr/>
        </p:nvSpPr>
        <p:spPr>
          <a:xfrm>
            <a:off x="4663440" y="3419856"/>
            <a:ext cx="2852928" cy="1508760"/>
          </a:xfrm>
          <a:prstGeom prst="rect">
            <a:avLst/>
          </a:prstGeom>
          <a:noFill/>
          <a:ln/>
        </p:spPr>
        <p:txBody>
          <a:bodyPr wrap="square" lIns="0" tIns="0" rIns="0" bIns="0" rtlCol="0" anchor="t"/>
          <a:lstStyle/>
          <a:p>
            <a:pPr indent="0" marL="0">
              <a:lnSpc>
                <a:spcPts val="1750"/>
              </a:lnSpc>
              <a:buNone/>
            </a:pPr>
            <a:r>
              <a:rPr lang="en-US" sz="1200" dirty="0">
                <a:solidFill>
                  <a:srgbClr val="CFD3E6"/>
                </a:solidFill>
                <a:latin typeface="Arial" pitchFamily="34" charset="0"/>
                <a:ea typeface="Arial" pitchFamily="34" charset="-122"/>
                <a:cs typeface="Arial" pitchFamily="34" charset="-120"/>
              </a:rPr>
              <a:t>Across synthetic, real and hyperspectral data the best decomposition is regime-dependent, and implementation confounds can outweigh structural differences.</a:t>
            </a:r>
            <a:endParaRPr lang="en-US" sz="1200" dirty="0"/>
          </a:p>
        </p:txBody>
      </p:sp>
      <p:sp>
        <p:nvSpPr>
          <p:cNvPr id="12" name="Shape 10"/>
          <p:cNvSpPr/>
          <p:nvPr/>
        </p:nvSpPr>
        <p:spPr>
          <a:xfrm>
            <a:off x="8046720" y="2880360"/>
            <a:ext cx="3401568" cy="2286000"/>
          </a:xfrm>
          <a:prstGeom prst="roundRect">
            <a:avLst>
              <a:gd name="adj" fmla="val 2400"/>
            </a:avLst>
          </a:prstGeom>
          <a:solidFill>
            <a:srgbClr val="1B2149"/>
          </a:solidFill>
          <a:ln w="12700">
            <a:solidFill>
              <a:srgbClr val="2E3766"/>
            </a:solidFill>
            <a:prstDash val="solid"/>
          </a:ln>
        </p:spPr>
      </p:sp>
      <p:sp>
        <p:nvSpPr>
          <p:cNvPr id="13" name="Text 11"/>
          <p:cNvSpPr/>
          <p:nvPr/>
        </p:nvSpPr>
        <p:spPr>
          <a:xfrm>
            <a:off x="8321040" y="3108960"/>
            <a:ext cx="2834640" cy="256032"/>
          </a:xfrm>
          <a:prstGeom prst="rect">
            <a:avLst/>
          </a:prstGeom>
          <a:noFill/>
          <a:ln/>
        </p:spPr>
        <p:txBody>
          <a:bodyPr wrap="square" lIns="0" tIns="0" rIns="0" bIns="0" rtlCol="0" anchor="ctr"/>
          <a:lstStyle/>
          <a:p>
            <a:pPr indent="0" marL="0">
              <a:buNone/>
            </a:pPr>
            <a:r>
              <a:rPr lang="en-US" sz="1050" b="1" spc="150" kern="0" dirty="0">
                <a:solidFill>
                  <a:srgbClr val="E8A13A"/>
                </a:solidFill>
                <a:latin typeface="Arial" pitchFamily="34" charset="0"/>
                <a:ea typeface="Arial" pitchFamily="34" charset="-122"/>
                <a:cs typeface="Arial" pitchFamily="34" charset="-120"/>
              </a:rPr>
              <a:t>EXTENSIBLE</a:t>
            </a:r>
            <a:endParaRPr lang="en-US" sz="1050" dirty="0"/>
          </a:p>
        </p:txBody>
      </p:sp>
      <p:sp>
        <p:nvSpPr>
          <p:cNvPr id="14" name="Text 12"/>
          <p:cNvSpPr/>
          <p:nvPr/>
        </p:nvSpPr>
        <p:spPr>
          <a:xfrm>
            <a:off x="8321040" y="3419856"/>
            <a:ext cx="2852928" cy="1508760"/>
          </a:xfrm>
          <a:prstGeom prst="rect">
            <a:avLst/>
          </a:prstGeom>
          <a:noFill/>
          <a:ln/>
        </p:spPr>
        <p:txBody>
          <a:bodyPr wrap="square" lIns="0" tIns="0" rIns="0" bIns="0" rtlCol="0" anchor="t"/>
          <a:lstStyle/>
          <a:p>
            <a:pPr indent="0" marL="0">
              <a:lnSpc>
                <a:spcPts val="1750"/>
              </a:lnSpc>
              <a:buNone/>
            </a:pPr>
            <a:r>
              <a:rPr lang="en-US" sz="1200" dirty="0">
                <a:solidFill>
                  <a:srgbClr val="CFD3E6"/>
                </a:solidFill>
                <a:latin typeface="Arial" pitchFamily="34" charset="0"/>
                <a:ea typeface="Arial" pitchFamily="34" charset="-122"/>
                <a:cs typeface="Arial" pitchFamily="34" charset="-120"/>
              </a:rPr>
              <a:t>A matched parameter budget both tightens and, in places, reverses naive conclusions. A new decomposition is one projector and one parameter rule away.</a:t>
            </a:r>
            <a:endParaRPr lang="en-US" sz="1200" dirty="0"/>
          </a:p>
        </p:txBody>
      </p:sp>
      <p:sp>
        <p:nvSpPr>
          <p:cNvPr id="15" name="Text 13"/>
          <p:cNvSpPr/>
          <p:nvPr/>
        </p:nvSpPr>
        <p:spPr>
          <a:xfrm>
            <a:off x="731520" y="5623560"/>
            <a:ext cx="10607040" cy="320040"/>
          </a:xfrm>
          <a:prstGeom prst="rect">
            <a:avLst/>
          </a:prstGeom>
          <a:noFill/>
          <a:ln/>
        </p:spPr>
        <p:txBody>
          <a:bodyPr wrap="square" lIns="0" tIns="0" rIns="0" bIns="0" rtlCol="0" anchor="ctr"/>
          <a:lstStyle/>
          <a:p>
            <a:pPr indent="0" marL="0">
              <a:buNone/>
            </a:pPr>
            <a:r>
              <a:rPr lang="en-US" sz="1200" dirty="0">
                <a:solidFill>
                  <a:srgbClr val="8A90B0"/>
                </a:solidFill>
                <a:latin typeface="Arial" pitchFamily="34" charset="0"/>
                <a:ea typeface="Arial" pitchFamily="34" charset="-122"/>
                <a:cs typeface="Arial" pitchFamily="34" charset="-120"/>
              </a:rPr>
              <a:t>Sahaj Chhetri  ·  August 17, 2026  ·  Primitives via TensorLy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Unified Projection Framework for Tensor-Structured Dictionary Learning</dc:title>
  <dc:subject>PptxGenJS Presentation</dc:subject>
  <dc:creator>Sahaj Chhetri</dc:creator>
  <cp:lastModifiedBy>Sahaj Chhetri</cp:lastModifiedBy>
  <cp:revision>1</cp:revision>
  <dcterms:created xsi:type="dcterms:W3CDTF">2026-08-20T03:02:06Z</dcterms:created>
  <dcterms:modified xsi:type="dcterms:W3CDTF">2026-08-20T03:02:06Z</dcterms:modified>
</cp:coreProperties>
</file>